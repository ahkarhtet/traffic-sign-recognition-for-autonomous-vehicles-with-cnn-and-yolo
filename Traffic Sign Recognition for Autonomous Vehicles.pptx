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Lst>
  <p:sldSz cx="18288000" cy="10287000"/>
  <p:notesSz cx="6858000" cy="9144000"/>
  <p:embeddedFontLst>
    <p:embeddedFont>
      <p:font typeface="Academy" panose="020B0604020202020204" charset="0"/>
      <p:regular r:id="rId24"/>
    </p:embeddedFont>
    <p:embeddedFont>
      <p:font typeface="Anton" pitchFamily="2" charset="0"/>
      <p:regular r:id="rId25"/>
    </p:embeddedFont>
    <p:embeddedFont>
      <p:font typeface="Arimo" panose="020B0604020202020204" charset="0"/>
      <p:regular r:id="rId26"/>
    </p:embeddedFont>
    <p:embeddedFont>
      <p:font typeface="Arimo Bold" panose="020B0604020202020204" charset="0"/>
      <p:regular r:id="rId27"/>
    </p:embeddedFont>
    <p:embeddedFont>
      <p:font typeface="Codec Pro" panose="020B0604020202020204" charset="0"/>
      <p:regular r:id="rId28"/>
    </p:embeddedFont>
    <p:embeddedFont>
      <p:font typeface="Codec Pro Bold" panose="020B0604020202020204" charset="0"/>
      <p:regular r:id="rId29"/>
    </p:embeddedFont>
    <p:embeddedFont>
      <p:font typeface="Lilita One" panose="020B0604020202020204" charset="0"/>
      <p:regular r:id="rId30"/>
    </p:embeddedFont>
    <p:embeddedFont>
      <p:font typeface="Sarpanch"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6.png"/><Relationship Id="rId5" Type="http://schemas.openxmlformats.org/officeDocument/2006/relationships/image" Target="../media/image7.png"/><Relationship Id="rId10" Type="http://schemas.openxmlformats.org/officeDocument/2006/relationships/image" Target="../media/image15.png"/><Relationship Id="rId4" Type="http://schemas.openxmlformats.org/officeDocument/2006/relationships/image" Target="../media/image6.sv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1.png"/><Relationship Id="rId5" Type="http://schemas.openxmlformats.org/officeDocument/2006/relationships/image" Target="../media/image18.png"/><Relationship Id="rId10" Type="http://schemas.openxmlformats.org/officeDocument/2006/relationships/image" Target="../media/image20.png"/><Relationship Id="rId4" Type="http://schemas.openxmlformats.org/officeDocument/2006/relationships/image" Target="../media/image6.sv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6.sv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slideLayout" Target="../slideLayouts/slideLayout7.xml"/><Relationship Id="rId7" Type="http://schemas.openxmlformats.org/officeDocument/2006/relationships/image" Target="../media/image2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7.png"/><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7.png"/><Relationship Id="rId4" Type="http://schemas.openxmlformats.org/officeDocument/2006/relationships/image" Target="../media/image6.sv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7.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7.png"/><Relationship Id="rId4" Type="http://schemas.openxmlformats.org/officeDocument/2006/relationships/image" Target="../media/image6.sv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9.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7.pn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hyperlink" Target="https://docs.opencv.org/4.x/d9/df8/tutorial_root.html" TargetMode="External"/><Relationship Id="rId13" Type="http://schemas.openxmlformats.org/officeDocument/2006/relationships/image" Target="../media/image9.svg"/><Relationship Id="rId3" Type="http://schemas.openxmlformats.org/officeDocument/2006/relationships/image" Target="../media/image18.png"/><Relationship Id="rId7" Type="http://schemas.openxmlformats.org/officeDocument/2006/relationships/hyperlink" Target="https://github.com/ultralytics/yolov5" TargetMode="External"/><Relationship Id="rId12"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hyperlink" Target="https://www.tensorflow.org/tutorials/images/cnn" TargetMode="External"/><Relationship Id="rId11" Type="http://schemas.openxmlformats.org/officeDocument/2006/relationships/hyperlink" Target="https://paperswithcode.com/task/traffic-sign-recognition" TargetMode="External"/><Relationship Id="rId5" Type="http://schemas.openxmlformats.org/officeDocument/2006/relationships/hyperlink" Target="https://www.kaggle.com/datasets/meowmeowmeowmeowmeow/gtsrb-german-traffic-sign" TargetMode="External"/><Relationship Id="rId10" Type="http://schemas.openxmlformats.org/officeDocument/2006/relationships/hyperlink" Target="https://scikit-learn.org/stable/modules/generated/sklearn.metrics.confusion_matrix.html" TargetMode="External"/><Relationship Id="rId4" Type="http://schemas.openxmlformats.org/officeDocument/2006/relationships/image" Target="../media/image7.png"/><Relationship Id="rId9" Type="http://schemas.openxmlformats.org/officeDocument/2006/relationships/hyperlink" Target="https://blog.roboflow.com/data-augmentation/"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7.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sp>
        <p:nvSpPr>
          <p:cNvPr id="3" name="Freeform 3"/>
          <p:cNvSpPr/>
          <p:nvPr/>
        </p:nvSpPr>
        <p:spPr>
          <a:xfrm>
            <a:off x="-5673344" y="-2345331"/>
            <a:ext cx="11563441" cy="11563441"/>
          </a:xfrm>
          <a:custGeom>
            <a:avLst/>
            <a:gdLst/>
            <a:ahLst/>
            <a:cxnLst/>
            <a:rect l="l" t="t" r="r" b="b"/>
            <a:pathLst>
              <a:path w="11563441" h="11563441">
                <a:moveTo>
                  <a:pt x="0" y="0"/>
                </a:moveTo>
                <a:lnTo>
                  <a:pt x="11563441" y="0"/>
                </a:lnTo>
                <a:lnTo>
                  <a:pt x="11563441"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CA"/>
          </a:p>
        </p:txBody>
      </p:sp>
      <p:grpSp>
        <p:nvGrpSpPr>
          <p:cNvPr id="4" name="Group 4"/>
          <p:cNvGrpSpPr/>
          <p:nvPr/>
        </p:nvGrpSpPr>
        <p:grpSpPr>
          <a:xfrm>
            <a:off x="1028700" y="5396869"/>
            <a:ext cx="4299060" cy="653018"/>
            <a:chOff x="0" y="0"/>
            <a:chExt cx="1329938" cy="202015"/>
          </a:xfrm>
        </p:grpSpPr>
        <p:sp>
          <p:nvSpPr>
            <p:cNvPr id="5" name="Freeform 5"/>
            <p:cNvSpPr/>
            <p:nvPr/>
          </p:nvSpPr>
          <p:spPr>
            <a:xfrm>
              <a:off x="0" y="0"/>
              <a:ext cx="1329938" cy="202015"/>
            </a:xfrm>
            <a:custGeom>
              <a:avLst/>
              <a:gdLst/>
              <a:ahLst/>
              <a:cxnLst/>
              <a:rect l="l" t="t" r="r" b="b"/>
              <a:pathLst>
                <a:path w="1329938" h="202015">
                  <a:moveTo>
                    <a:pt x="0" y="0"/>
                  </a:moveTo>
                  <a:lnTo>
                    <a:pt x="1329938" y="0"/>
                  </a:lnTo>
                  <a:lnTo>
                    <a:pt x="1329938" y="202015"/>
                  </a:lnTo>
                  <a:lnTo>
                    <a:pt x="0" y="202015"/>
                  </a:lnTo>
                  <a:close/>
                </a:path>
              </a:pathLst>
            </a:custGeom>
            <a:solidFill>
              <a:srgbClr val="FFFFFF"/>
            </a:solidFill>
          </p:spPr>
          <p:txBody>
            <a:bodyPr/>
            <a:lstStyle/>
            <a:p>
              <a:endParaRPr lang="en-CA"/>
            </a:p>
          </p:txBody>
        </p:sp>
        <p:sp>
          <p:nvSpPr>
            <p:cNvPr id="6" name="TextBox 6"/>
            <p:cNvSpPr txBox="1"/>
            <p:nvPr/>
          </p:nvSpPr>
          <p:spPr>
            <a:xfrm>
              <a:off x="0" y="-38100"/>
              <a:ext cx="1329938" cy="240115"/>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528498" y="1307992"/>
            <a:ext cx="16974111" cy="2225796"/>
          </a:xfrm>
          <a:prstGeom prst="rect">
            <a:avLst/>
          </a:prstGeom>
        </p:spPr>
        <p:txBody>
          <a:bodyPr lIns="0" tIns="0" rIns="0" bIns="0" rtlCol="0" anchor="t">
            <a:spAutoFit/>
          </a:bodyPr>
          <a:lstStyle/>
          <a:p>
            <a:pPr algn="l">
              <a:lnSpc>
                <a:spcPts val="8618"/>
              </a:lnSpc>
            </a:pPr>
            <a:r>
              <a:rPr lang="en-US" sz="8287">
                <a:solidFill>
                  <a:srgbClr val="FFFFFF"/>
                </a:solidFill>
                <a:latin typeface="Lilita One"/>
                <a:ea typeface="Lilita One"/>
                <a:cs typeface="Lilita One"/>
                <a:sym typeface="Lilita One"/>
              </a:rPr>
              <a:t>Traffic Sign Recognition for Autonomous Vehicles</a:t>
            </a:r>
          </a:p>
        </p:txBody>
      </p:sp>
      <p:sp>
        <p:nvSpPr>
          <p:cNvPr id="8" name="TextBox 8"/>
          <p:cNvSpPr txBox="1"/>
          <p:nvPr/>
        </p:nvSpPr>
        <p:spPr>
          <a:xfrm>
            <a:off x="745225" y="3751162"/>
            <a:ext cx="7955728" cy="592456"/>
          </a:xfrm>
          <a:prstGeom prst="rect">
            <a:avLst/>
          </a:prstGeom>
        </p:spPr>
        <p:txBody>
          <a:bodyPr lIns="0" tIns="0" rIns="0" bIns="0" rtlCol="0" anchor="t">
            <a:spAutoFit/>
          </a:bodyPr>
          <a:lstStyle/>
          <a:p>
            <a:pPr algn="l">
              <a:lnSpc>
                <a:spcPts val="4619"/>
              </a:lnSpc>
              <a:spcBef>
                <a:spcPct val="0"/>
              </a:spcBef>
            </a:pPr>
            <a:r>
              <a:rPr lang="en-US" sz="3299">
                <a:solidFill>
                  <a:srgbClr val="FFFFFF"/>
                </a:solidFill>
                <a:latin typeface="Arimo"/>
                <a:ea typeface="Arimo"/>
                <a:cs typeface="Arimo"/>
                <a:sym typeface="Arimo"/>
              </a:rPr>
              <a:t>Phase 1 – Project Pitch</a:t>
            </a:r>
          </a:p>
        </p:txBody>
      </p:sp>
      <p:sp>
        <p:nvSpPr>
          <p:cNvPr id="9" name="TextBox 9"/>
          <p:cNvSpPr txBox="1"/>
          <p:nvPr/>
        </p:nvSpPr>
        <p:spPr>
          <a:xfrm>
            <a:off x="1300418" y="5541341"/>
            <a:ext cx="3755624" cy="343008"/>
          </a:xfrm>
          <a:prstGeom prst="rect">
            <a:avLst/>
          </a:prstGeom>
        </p:spPr>
        <p:txBody>
          <a:bodyPr lIns="0" tIns="0" rIns="0" bIns="0" rtlCol="0" anchor="t">
            <a:spAutoFit/>
          </a:bodyPr>
          <a:lstStyle/>
          <a:p>
            <a:pPr algn="ctr">
              <a:lnSpc>
                <a:spcPts val="2860"/>
              </a:lnSpc>
              <a:spcBef>
                <a:spcPct val="0"/>
              </a:spcBef>
            </a:pPr>
            <a:r>
              <a:rPr lang="en-US" sz="2043">
                <a:solidFill>
                  <a:srgbClr val="000000"/>
                </a:solidFill>
                <a:latin typeface="Sarpanch"/>
                <a:ea typeface="Sarpanch"/>
                <a:cs typeface="Sarpanch"/>
                <a:sym typeface="Sarpanch"/>
              </a:rPr>
              <a:t>Presented by </a:t>
            </a:r>
          </a:p>
        </p:txBody>
      </p:sp>
      <p:sp>
        <p:nvSpPr>
          <p:cNvPr id="10" name="TextBox 10"/>
          <p:cNvSpPr txBox="1"/>
          <p:nvPr/>
        </p:nvSpPr>
        <p:spPr>
          <a:xfrm>
            <a:off x="6099257" y="5275820"/>
            <a:ext cx="2475404" cy="774066"/>
          </a:xfrm>
          <a:prstGeom prst="rect">
            <a:avLst/>
          </a:prstGeom>
        </p:spPr>
        <p:txBody>
          <a:bodyPr lIns="0" tIns="0" rIns="0" bIns="0" rtlCol="0" anchor="t">
            <a:spAutoFit/>
          </a:bodyPr>
          <a:lstStyle/>
          <a:p>
            <a:pPr algn="l">
              <a:lnSpc>
                <a:spcPts val="6159"/>
              </a:lnSpc>
              <a:spcBef>
                <a:spcPct val="0"/>
              </a:spcBef>
            </a:pPr>
            <a:r>
              <a:rPr lang="en-US" sz="4399" b="1">
                <a:solidFill>
                  <a:srgbClr val="FFFFFF"/>
                </a:solidFill>
                <a:latin typeface="Arimo Bold"/>
                <a:ea typeface="Arimo Bold"/>
                <a:cs typeface="Arimo Bold"/>
                <a:sym typeface="Arimo Bold"/>
              </a:rPr>
              <a:t>Goup-8</a:t>
            </a:r>
          </a:p>
        </p:txBody>
      </p:sp>
      <p:sp>
        <p:nvSpPr>
          <p:cNvPr id="11" name="TextBox 11"/>
          <p:cNvSpPr txBox="1"/>
          <p:nvPr/>
        </p:nvSpPr>
        <p:spPr>
          <a:xfrm>
            <a:off x="5890097" y="6259436"/>
            <a:ext cx="4200754" cy="2958674"/>
          </a:xfrm>
          <a:prstGeom prst="rect">
            <a:avLst/>
          </a:prstGeom>
        </p:spPr>
        <p:txBody>
          <a:bodyPr lIns="0" tIns="0" rIns="0" bIns="0" rtlCol="0" anchor="t">
            <a:spAutoFit/>
          </a:bodyPr>
          <a:lstStyle/>
          <a:p>
            <a:pPr marL="594579" lvl="1" indent="-297289" algn="l">
              <a:lnSpc>
                <a:spcPts val="3855"/>
              </a:lnSpc>
              <a:buFont typeface="Arial"/>
              <a:buChar char="•"/>
            </a:pPr>
            <a:r>
              <a:rPr lang="en-US" sz="2753">
                <a:solidFill>
                  <a:srgbClr val="FFFFFF"/>
                </a:solidFill>
                <a:latin typeface="Codec Pro"/>
                <a:ea typeface="Codec Pro"/>
                <a:cs typeface="Codec Pro"/>
                <a:sym typeface="Codec Pro"/>
              </a:rPr>
              <a:t>Ahkar Htet </a:t>
            </a:r>
          </a:p>
          <a:p>
            <a:pPr marL="594579" lvl="1" indent="-297289" algn="l">
              <a:lnSpc>
                <a:spcPts val="3855"/>
              </a:lnSpc>
              <a:buFont typeface="Arial"/>
              <a:buChar char="•"/>
            </a:pPr>
            <a:r>
              <a:rPr lang="en-US" sz="2753">
                <a:solidFill>
                  <a:srgbClr val="FFFFFF"/>
                </a:solidFill>
                <a:latin typeface="Codec Pro"/>
                <a:ea typeface="Codec Pro"/>
                <a:cs typeface="Codec Pro"/>
                <a:sym typeface="Codec Pro"/>
              </a:rPr>
              <a:t>Cassio Santanna </a:t>
            </a:r>
          </a:p>
          <a:p>
            <a:pPr marL="594579" lvl="1" indent="-297289" algn="l">
              <a:lnSpc>
                <a:spcPts val="3855"/>
              </a:lnSpc>
              <a:buFont typeface="Arial"/>
              <a:buChar char="•"/>
            </a:pPr>
            <a:r>
              <a:rPr lang="en-US" sz="2753">
                <a:solidFill>
                  <a:srgbClr val="FFFFFF"/>
                </a:solidFill>
                <a:latin typeface="Codec Pro"/>
                <a:ea typeface="Codec Pro"/>
                <a:cs typeface="Codec Pro"/>
                <a:sym typeface="Codec Pro"/>
              </a:rPr>
              <a:t>Bernardo Xavier</a:t>
            </a:r>
          </a:p>
          <a:p>
            <a:pPr marL="594579" lvl="1" indent="-297289" algn="l">
              <a:lnSpc>
                <a:spcPts val="3855"/>
              </a:lnSpc>
              <a:buFont typeface="Arial"/>
              <a:buChar char="•"/>
            </a:pPr>
            <a:r>
              <a:rPr lang="en-US" sz="2753">
                <a:solidFill>
                  <a:srgbClr val="FFFFFF"/>
                </a:solidFill>
                <a:latin typeface="Codec Pro"/>
                <a:ea typeface="Codec Pro"/>
                <a:cs typeface="Codec Pro"/>
                <a:sym typeface="Codec Pro"/>
              </a:rPr>
              <a:t>Eduar Stiven</a:t>
            </a:r>
          </a:p>
          <a:p>
            <a:pPr algn="l">
              <a:lnSpc>
                <a:spcPts val="3855"/>
              </a:lnSpc>
              <a:spcBef>
                <a:spcPct val="0"/>
              </a:spcBef>
            </a:pPr>
            <a:endParaRPr lang="en-US" sz="2753">
              <a:solidFill>
                <a:srgbClr val="FFFFFF"/>
              </a:solidFill>
              <a:latin typeface="Codec Pro"/>
              <a:ea typeface="Codec Pro"/>
              <a:cs typeface="Codec Pro"/>
              <a:sym typeface="Codec Pro"/>
            </a:endParaRPr>
          </a:p>
          <a:p>
            <a:pPr algn="ctr">
              <a:lnSpc>
                <a:spcPts val="3855"/>
              </a:lnSpc>
              <a:spcBef>
                <a:spcPct val="0"/>
              </a:spcBef>
            </a:pPr>
            <a:endParaRPr lang="en-US" sz="2753">
              <a:solidFill>
                <a:srgbClr val="FFFFFF"/>
              </a:solidFill>
              <a:latin typeface="Codec Pro"/>
              <a:ea typeface="Codec Pro"/>
              <a:cs typeface="Codec Pro"/>
              <a:sym typeface="Codec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7" r="-3317"/>
            </a:stretch>
          </a:blipFill>
        </p:spPr>
        <p:txBody>
          <a:bodyPr/>
          <a:lstStyle/>
          <a:p>
            <a:endParaRPr lang="en-CA"/>
          </a:p>
        </p:txBody>
      </p:sp>
      <p:sp>
        <p:nvSpPr>
          <p:cNvPr id="3" name="Freeform 3"/>
          <p:cNvSpPr/>
          <p:nvPr/>
        </p:nvSpPr>
        <p:spPr>
          <a:xfrm>
            <a:off x="1028700" y="1096875"/>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437961"/>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3561551" y="398557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6" name="TextBox 6"/>
          <p:cNvSpPr txBox="1"/>
          <p:nvPr/>
        </p:nvSpPr>
        <p:spPr>
          <a:xfrm>
            <a:off x="1028700" y="2968625"/>
            <a:ext cx="7409538" cy="4264025"/>
          </a:xfrm>
          <a:prstGeom prst="rect">
            <a:avLst/>
          </a:prstGeom>
        </p:spPr>
        <p:txBody>
          <a:bodyPr lIns="0" tIns="0" rIns="0" bIns="0" rtlCol="0" anchor="t">
            <a:spAutoFit/>
          </a:bodyPr>
          <a:lstStyle/>
          <a:p>
            <a:pPr algn="ctr">
              <a:lnSpc>
                <a:spcPts val="2800"/>
              </a:lnSpc>
            </a:pPr>
            <a:endParaRP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Autonomous vehicles must accurately recognize traffic signs to ensure safety and compliance with road rules.</a:t>
            </a: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Traffic sign recognition helps vehicles interpret road conditions, control flow, and make decisions in real time.</a:t>
            </a:r>
          </a:p>
          <a:p>
            <a:pPr algn="l">
              <a:lnSpc>
                <a:spcPts val="2800"/>
              </a:lnSpc>
              <a:spcBef>
                <a:spcPct val="0"/>
              </a:spcBef>
            </a:pPr>
            <a:endParaRPr lang="en-US" sz="2000">
              <a:solidFill>
                <a:srgbClr val="FFFFFF"/>
              </a:solidFill>
              <a:latin typeface="Codec Pro"/>
              <a:ea typeface="Codec Pro"/>
              <a:cs typeface="Codec Pro"/>
              <a:sym typeface="Codec Pro"/>
            </a:endParaRP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Objective: Build a model to classify traffic signs into 43 categories using the GTSRB dataset.</a:t>
            </a: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Challenges:</a:t>
            </a: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Varying lighting conditions, image quality, and sign angles.</a:t>
            </a: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Need for a robust and accurate system.</a:t>
            </a:r>
          </a:p>
        </p:txBody>
      </p:sp>
      <p:sp>
        <p:nvSpPr>
          <p:cNvPr id="7" name="Freeform 7"/>
          <p:cNvSpPr/>
          <p:nvPr/>
        </p:nvSpPr>
        <p:spPr>
          <a:xfrm>
            <a:off x="-2014307" y="5755846"/>
            <a:ext cx="4028613" cy="4114800"/>
          </a:xfrm>
          <a:custGeom>
            <a:avLst/>
            <a:gdLst/>
            <a:ahLst/>
            <a:cxnLst/>
            <a:rect l="l" t="t" r="r" b="b"/>
            <a:pathLst>
              <a:path w="4028613" h="4114800">
                <a:moveTo>
                  <a:pt x="0" y="0"/>
                </a:moveTo>
                <a:lnTo>
                  <a:pt x="4028614" y="0"/>
                </a:lnTo>
                <a:lnTo>
                  <a:pt x="4028614"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4540106" y="198255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9" name="Freeform 9"/>
          <p:cNvSpPr/>
          <p:nvPr/>
        </p:nvSpPr>
        <p:spPr>
          <a:xfrm>
            <a:off x="9508805" y="3409951"/>
            <a:ext cx="7315042" cy="3822699"/>
          </a:xfrm>
          <a:custGeom>
            <a:avLst/>
            <a:gdLst/>
            <a:ahLst/>
            <a:cxnLst/>
            <a:rect l="l" t="t" r="r" b="b"/>
            <a:pathLst>
              <a:path w="7315042" h="3822699">
                <a:moveTo>
                  <a:pt x="0" y="0"/>
                </a:moveTo>
                <a:lnTo>
                  <a:pt x="7315041" y="0"/>
                </a:lnTo>
                <a:lnTo>
                  <a:pt x="7315041" y="3822699"/>
                </a:lnTo>
                <a:lnTo>
                  <a:pt x="0" y="3822699"/>
                </a:lnTo>
                <a:lnTo>
                  <a:pt x="0" y="0"/>
                </a:lnTo>
                <a:close/>
              </a:path>
            </a:pathLst>
          </a:custGeom>
          <a:blipFill>
            <a:blip r:embed="rId8"/>
            <a:stretch>
              <a:fillRect/>
            </a:stretch>
          </a:blipFill>
        </p:spPr>
        <p:txBody>
          <a:bodyPr/>
          <a:lstStyle/>
          <a:p>
            <a:endParaRPr lang="en-CA"/>
          </a:p>
        </p:txBody>
      </p:sp>
      <p:sp>
        <p:nvSpPr>
          <p:cNvPr id="10" name="TextBox 10"/>
          <p:cNvSpPr txBox="1"/>
          <p:nvPr/>
        </p:nvSpPr>
        <p:spPr>
          <a:xfrm>
            <a:off x="1925788" y="893379"/>
            <a:ext cx="13777305" cy="971966"/>
          </a:xfrm>
          <a:prstGeom prst="rect">
            <a:avLst/>
          </a:prstGeom>
        </p:spPr>
        <p:txBody>
          <a:bodyPr lIns="0" tIns="0" rIns="0" bIns="0" rtlCol="0" anchor="t">
            <a:spAutoFit/>
          </a:bodyPr>
          <a:lstStyle/>
          <a:p>
            <a:pPr algn="ctr">
              <a:lnSpc>
                <a:spcPts val="7406"/>
              </a:lnSpc>
            </a:pPr>
            <a:r>
              <a:rPr lang="en-US" sz="6987">
                <a:solidFill>
                  <a:srgbClr val="FFFFFF"/>
                </a:solidFill>
                <a:latin typeface="Anton"/>
                <a:ea typeface="Anton"/>
                <a:cs typeface="Anton"/>
                <a:sym typeface="Anton"/>
              </a:rPr>
              <a:t>INTRODUCTION &amp; 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7" r="-3317"/>
            </a:stretch>
          </a:blipFill>
        </p:spPr>
        <p:txBody>
          <a:bodyPr/>
          <a:lstStyle/>
          <a:p>
            <a:endParaRPr lang="en-CA"/>
          </a:p>
        </p:txBody>
      </p:sp>
      <p:sp>
        <p:nvSpPr>
          <p:cNvPr id="3" name="Freeform 3"/>
          <p:cNvSpPr/>
          <p:nvPr/>
        </p:nvSpPr>
        <p:spPr>
          <a:xfrm>
            <a:off x="1028700" y="1096875"/>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437961"/>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3561551" y="398557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6" name="TextBox 6"/>
          <p:cNvSpPr txBox="1"/>
          <p:nvPr/>
        </p:nvSpPr>
        <p:spPr>
          <a:xfrm>
            <a:off x="1668626" y="3009340"/>
            <a:ext cx="8220980" cy="4616450"/>
          </a:xfrm>
          <a:prstGeom prst="rect">
            <a:avLst/>
          </a:prstGeom>
        </p:spPr>
        <p:txBody>
          <a:bodyPr lIns="0" tIns="0" rIns="0" bIns="0" rtlCol="0" anchor="t">
            <a:spAutoFit/>
          </a:bodyPr>
          <a:lstStyle/>
          <a:p>
            <a:pPr algn="l">
              <a:lnSpc>
                <a:spcPts val="2800"/>
              </a:lnSpc>
            </a:pPr>
            <a:r>
              <a:rPr lang="en-US" sz="2000">
                <a:solidFill>
                  <a:srgbClr val="FFFFFF"/>
                </a:solidFill>
                <a:latin typeface="Codec Pro"/>
                <a:ea typeface="Codec Pro"/>
                <a:cs typeface="Codec Pro"/>
                <a:sym typeface="Codec Pro"/>
              </a:rPr>
              <a:t>Dataset: GTSRB (German Traffic Sign Recognition Benchmark)</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50,000+ labeled images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43 traffic sign classes (e.g., speed limits, warnings, regulatory signs)</a:t>
            </a:r>
          </a:p>
          <a:p>
            <a:pPr algn="l">
              <a:lnSpc>
                <a:spcPts val="2800"/>
              </a:lnSpc>
            </a:pPr>
            <a:endParaRPr lang="en-US" sz="2000">
              <a:solidFill>
                <a:srgbClr val="FFFFFF"/>
              </a:solidFill>
              <a:latin typeface="Codec Pro"/>
              <a:ea typeface="Codec Pro"/>
              <a:cs typeface="Codec Pro"/>
              <a:sym typeface="Codec Pro"/>
            </a:endParaRPr>
          </a:p>
          <a:p>
            <a:pPr algn="l">
              <a:lnSpc>
                <a:spcPts val="2800"/>
              </a:lnSpc>
            </a:pPr>
            <a:r>
              <a:rPr lang="en-US" sz="2000">
                <a:solidFill>
                  <a:srgbClr val="FFFFFF"/>
                </a:solidFill>
                <a:latin typeface="Codec Pro"/>
                <a:ea typeface="Codec Pro"/>
                <a:cs typeface="Codec Pro"/>
                <a:sym typeface="Codec Pro"/>
              </a:rPr>
              <a:t>Why GTSRB?</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Real-world relevance for autonomous driving.</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High variability in angle, lighting, and resolution.</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Well-established benchmark in traffic sign classification research.</a:t>
            </a:r>
          </a:p>
          <a:p>
            <a:pPr marL="431801" lvl="1" indent="-215900" algn="l">
              <a:lnSpc>
                <a:spcPts val="2800"/>
              </a:lnSpc>
              <a:spcBef>
                <a:spcPct val="0"/>
              </a:spcBef>
              <a:buFont typeface="Arial"/>
              <a:buChar char="•"/>
            </a:pPr>
            <a:r>
              <a:rPr lang="en-US" sz="2000">
                <a:solidFill>
                  <a:srgbClr val="FFFFFF"/>
                </a:solidFill>
                <a:latin typeface="Codec Pro"/>
                <a:ea typeface="Codec Pro"/>
                <a:cs typeface="Codec Pro"/>
                <a:sym typeface="Codec Pro"/>
              </a:rPr>
              <a:t>Class diversity enables better generalization across different road scenarios.</a:t>
            </a:r>
          </a:p>
          <a:p>
            <a:pPr algn="l">
              <a:lnSpc>
                <a:spcPts val="2800"/>
              </a:lnSpc>
              <a:spcBef>
                <a:spcPct val="0"/>
              </a:spcBef>
            </a:pPr>
            <a:endParaRPr lang="en-US" sz="2000">
              <a:solidFill>
                <a:srgbClr val="FFFFFF"/>
              </a:solidFill>
              <a:latin typeface="Codec Pro"/>
              <a:ea typeface="Codec Pro"/>
              <a:cs typeface="Codec Pro"/>
              <a:sym typeface="Codec Pro"/>
            </a:endParaRPr>
          </a:p>
        </p:txBody>
      </p:sp>
      <p:sp>
        <p:nvSpPr>
          <p:cNvPr id="7" name="Freeform 7"/>
          <p:cNvSpPr/>
          <p:nvPr/>
        </p:nvSpPr>
        <p:spPr>
          <a:xfrm>
            <a:off x="-1789931" y="5931671"/>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4540106" y="198255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9" name="Freeform 9"/>
          <p:cNvSpPr/>
          <p:nvPr/>
        </p:nvSpPr>
        <p:spPr>
          <a:xfrm>
            <a:off x="10117095" y="2114770"/>
            <a:ext cx="7529366" cy="6057460"/>
          </a:xfrm>
          <a:custGeom>
            <a:avLst/>
            <a:gdLst/>
            <a:ahLst/>
            <a:cxnLst/>
            <a:rect l="l" t="t" r="r" b="b"/>
            <a:pathLst>
              <a:path w="7529366" h="6057460">
                <a:moveTo>
                  <a:pt x="0" y="0"/>
                </a:moveTo>
                <a:lnTo>
                  <a:pt x="7529367" y="0"/>
                </a:lnTo>
                <a:lnTo>
                  <a:pt x="7529367" y="6057460"/>
                </a:lnTo>
                <a:lnTo>
                  <a:pt x="0" y="6057460"/>
                </a:lnTo>
                <a:lnTo>
                  <a:pt x="0" y="0"/>
                </a:lnTo>
                <a:close/>
              </a:path>
            </a:pathLst>
          </a:custGeom>
          <a:blipFill>
            <a:blip r:embed="rId8"/>
            <a:stretch>
              <a:fillRect/>
            </a:stretch>
          </a:blipFill>
        </p:spPr>
        <p:txBody>
          <a:bodyPr/>
          <a:lstStyle/>
          <a:p>
            <a:endParaRPr lang="en-CA"/>
          </a:p>
        </p:txBody>
      </p:sp>
      <p:sp>
        <p:nvSpPr>
          <p:cNvPr id="10" name="TextBox 10"/>
          <p:cNvSpPr txBox="1"/>
          <p:nvPr/>
        </p:nvSpPr>
        <p:spPr>
          <a:xfrm>
            <a:off x="1925788" y="653754"/>
            <a:ext cx="13777305" cy="971966"/>
          </a:xfrm>
          <a:prstGeom prst="rect">
            <a:avLst/>
          </a:prstGeom>
        </p:spPr>
        <p:txBody>
          <a:bodyPr lIns="0" tIns="0" rIns="0" bIns="0" rtlCol="0" anchor="t">
            <a:spAutoFit/>
          </a:bodyPr>
          <a:lstStyle/>
          <a:p>
            <a:pPr algn="ctr">
              <a:lnSpc>
                <a:spcPts val="7406"/>
              </a:lnSpc>
            </a:pPr>
            <a:r>
              <a:rPr lang="en-US" sz="6987">
                <a:solidFill>
                  <a:srgbClr val="FFFFFF"/>
                </a:solidFill>
                <a:latin typeface="Anton"/>
                <a:ea typeface="Anton"/>
                <a:cs typeface="Anton"/>
                <a:sym typeface="Anton"/>
              </a:rPr>
              <a:t>DATASET SELECTION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7" r="-3317"/>
            </a:stretch>
          </a:blipFill>
        </p:spPr>
        <p:txBody>
          <a:bodyPr/>
          <a:lstStyle/>
          <a:p>
            <a:endParaRPr lang="en-CA"/>
          </a:p>
        </p:txBody>
      </p:sp>
      <p:sp>
        <p:nvSpPr>
          <p:cNvPr id="3" name="Freeform 3"/>
          <p:cNvSpPr/>
          <p:nvPr/>
        </p:nvSpPr>
        <p:spPr>
          <a:xfrm>
            <a:off x="1028700" y="1096875"/>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437961"/>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3561551" y="398557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6" name="TextBox 6"/>
          <p:cNvSpPr txBox="1"/>
          <p:nvPr/>
        </p:nvSpPr>
        <p:spPr>
          <a:xfrm>
            <a:off x="1925788" y="2641600"/>
            <a:ext cx="6230224" cy="250190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FFFFFF"/>
                </a:solidFill>
                <a:latin typeface="Codec Pro"/>
                <a:ea typeface="Codec Pro"/>
                <a:cs typeface="Codec Pro"/>
                <a:sym typeface="Codec Pro"/>
              </a:rPr>
              <a:t>Checked for corrupted images using PIL.Image.open() and img.verify()</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t-SNE Visualization</a:t>
            </a:r>
          </a:p>
          <a:p>
            <a:pPr algn="l">
              <a:lnSpc>
                <a:spcPts val="2800"/>
              </a:lnSpc>
            </a:pPr>
            <a:endParaRPr lang="en-US" sz="2000">
              <a:solidFill>
                <a:srgbClr val="FFFFFF"/>
              </a:solidFill>
              <a:latin typeface="Codec Pro"/>
              <a:ea typeface="Codec Pro"/>
              <a:cs typeface="Codec Pro"/>
              <a:sym typeface="Codec Pro"/>
            </a:endParaRP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 Convert BGR to RGB</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Resize to 32x32</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 Normalize to [0, 1]</a:t>
            </a:r>
          </a:p>
        </p:txBody>
      </p:sp>
      <p:sp>
        <p:nvSpPr>
          <p:cNvPr id="7" name="Freeform 7"/>
          <p:cNvSpPr/>
          <p:nvPr/>
        </p:nvSpPr>
        <p:spPr>
          <a:xfrm>
            <a:off x="-88519" y="4736479"/>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4540106" y="198255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9" name="Freeform 9"/>
          <p:cNvSpPr/>
          <p:nvPr/>
        </p:nvSpPr>
        <p:spPr>
          <a:xfrm>
            <a:off x="7748709" y="2055473"/>
            <a:ext cx="8208350" cy="7202827"/>
          </a:xfrm>
          <a:custGeom>
            <a:avLst/>
            <a:gdLst/>
            <a:ahLst/>
            <a:cxnLst/>
            <a:rect l="l" t="t" r="r" b="b"/>
            <a:pathLst>
              <a:path w="8208350" h="7202827">
                <a:moveTo>
                  <a:pt x="0" y="0"/>
                </a:moveTo>
                <a:lnTo>
                  <a:pt x="8208350" y="0"/>
                </a:lnTo>
                <a:lnTo>
                  <a:pt x="8208350" y="7202827"/>
                </a:lnTo>
                <a:lnTo>
                  <a:pt x="0" y="7202827"/>
                </a:lnTo>
                <a:lnTo>
                  <a:pt x="0" y="0"/>
                </a:lnTo>
                <a:close/>
              </a:path>
            </a:pathLst>
          </a:custGeom>
          <a:blipFill>
            <a:blip r:embed="rId8"/>
            <a:stretch>
              <a:fillRect/>
            </a:stretch>
          </a:blipFill>
        </p:spPr>
        <p:txBody>
          <a:bodyPr/>
          <a:lstStyle/>
          <a:p>
            <a:endParaRPr lang="en-CA"/>
          </a:p>
        </p:txBody>
      </p:sp>
      <p:sp>
        <p:nvSpPr>
          <p:cNvPr id="10" name="TextBox 10"/>
          <p:cNvSpPr txBox="1"/>
          <p:nvPr/>
        </p:nvSpPr>
        <p:spPr>
          <a:xfrm>
            <a:off x="1925788" y="893379"/>
            <a:ext cx="13777305" cy="971966"/>
          </a:xfrm>
          <a:prstGeom prst="rect">
            <a:avLst/>
          </a:prstGeom>
        </p:spPr>
        <p:txBody>
          <a:bodyPr lIns="0" tIns="0" rIns="0" bIns="0" rtlCol="0" anchor="t">
            <a:spAutoFit/>
          </a:bodyPr>
          <a:lstStyle/>
          <a:p>
            <a:pPr algn="ctr">
              <a:lnSpc>
                <a:spcPts val="7406"/>
              </a:lnSpc>
            </a:pPr>
            <a:r>
              <a:rPr lang="en-US" sz="6987">
                <a:solidFill>
                  <a:srgbClr val="FFFFFF"/>
                </a:solidFill>
                <a:latin typeface="Anton"/>
                <a:ea typeface="Anton"/>
                <a:cs typeface="Anton"/>
                <a:sym typeface="Anton"/>
              </a:rPr>
              <a:t>PREPROCESSING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317" r="-3317"/>
            </a:stretch>
          </a:blipFill>
        </p:spPr>
        <p:txBody>
          <a:bodyPr/>
          <a:lstStyle/>
          <a:p>
            <a:endParaRPr lang="en-CA"/>
          </a:p>
        </p:txBody>
      </p:sp>
      <p:sp>
        <p:nvSpPr>
          <p:cNvPr id="3" name="Freeform 3"/>
          <p:cNvSpPr/>
          <p:nvPr/>
        </p:nvSpPr>
        <p:spPr>
          <a:xfrm>
            <a:off x="1028700" y="1096875"/>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437961"/>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3561551" y="398557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6" name="Freeform 6"/>
          <p:cNvSpPr/>
          <p:nvPr/>
        </p:nvSpPr>
        <p:spPr>
          <a:xfrm>
            <a:off x="-88519" y="4736479"/>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7" name="Freeform 7"/>
          <p:cNvSpPr/>
          <p:nvPr/>
        </p:nvSpPr>
        <p:spPr>
          <a:xfrm>
            <a:off x="14540106" y="198255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2299494" y="1096875"/>
            <a:ext cx="9472467" cy="4298132"/>
          </a:xfrm>
          <a:custGeom>
            <a:avLst/>
            <a:gdLst/>
            <a:ahLst/>
            <a:cxnLst/>
            <a:rect l="l" t="t" r="r" b="b"/>
            <a:pathLst>
              <a:path w="9472467" h="4298132">
                <a:moveTo>
                  <a:pt x="0" y="0"/>
                </a:moveTo>
                <a:lnTo>
                  <a:pt x="9472467" y="0"/>
                </a:lnTo>
                <a:lnTo>
                  <a:pt x="9472467" y="4298132"/>
                </a:lnTo>
                <a:lnTo>
                  <a:pt x="0" y="4298132"/>
                </a:lnTo>
                <a:lnTo>
                  <a:pt x="0" y="0"/>
                </a:lnTo>
                <a:close/>
              </a:path>
            </a:pathLst>
          </a:custGeom>
          <a:blipFill>
            <a:blip r:embed="rId8"/>
            <a:stretch>
              <a:fillRect/>
            </a:stretch>
          </a:blipFill>
        </p:spPr>
        <p:txBody>
          <a:bodyPr/>
          <a:lstStyle/>
          <a:p>
            <a:endParaRPr lang="en-CA"/>
          </a:p>
        </p:txBody>
      </p:sp>
      <p:sp>
        <p:nvSpPr>
          <p:cNvPr id="9" name="Freeform 9"/>
          <p:cNvSpPr/>
          <p:nvPr/>
        </p:nvSpPr>
        <p:spPr>
          <a:xfrm>
            <a:off x="470702" y="5571163"/>
            <a:ext cx="11301259" cy="4393364"/>
          </a:xfrm>
          <a:custGeom>
            <a:avLst/>
            <a:gdLst/>
            <a:ahLst/>
            <a:cxnLst/>
            <a:rect l="l" t="t" r="r" b="b"/>
            <a:pathLst>
              <a:path w="11301259" h="4393364">
                <a:moveTo>
                  <a:pt x="0" y="0"/>
                </a:moveTo>
                <a:lnTo>
                  <a:pt x="11301259" y="0"/>
                </a:lnTo>
                <a:lnTo>
                  <a:pt x="11301259" y="4393364"/>
                </a:lnTo>
                <a:lnTo>
                  <a:pt x="0" y="4393364"/>
                </a:lnTo>
                <a:lnTo>
                  <a:pt x="0" y="0"/>
                </a:lnTo>
                <a:close/>
              </a:path>
            </a:pathLst>
          </a:custGeom>
          <a:blipFill>
            <a:blip r:embed="rId9"/>
            <a:stretch>
              <a:fillRect/>
            </a:stretch>
          </a:blipFill>
        </p:spPr>
        <p:txBody>
          <a:bodyPr/>
          <a:lstStyle/>
          <a:p>
            <a:endParaRPr lang="en-CA"/>
          </a:p>
        </p:txBody>
      </p:sp>
      <p:sp>
        <p:nvSpPr>
          <p:cNvPr id="10" name="Freeform 10"/>
          <p:cNvSpPr/>
          <p:nvPr/>
        </p:nvSpPr>
        <p:spPr>
          <a:xfrm>
            <a:off x="11999632" y="1096875"/>
            <a:ext cx="4208743" cy="4298132"/>
          </a:xfrm>
          <a:custGeom>
            <a:avLst/>
            <a:gdLst/>
            <a:ahLst/>
            <a:cxnLst/>
            <a:rect l="l" t="t" r="r" b="b"/>
            <a:pathLst>
              <a:path w="4208743" h="4298132">
                <a:moveTo>
                  <a:pt x="0" y="0"/>
                </a:moveTo>
                <a:lnTo>
                  <a:pt x="4208743" y="0"/>
                </a:lnTo>
                <a:lnTo>
                  <a:pt x="4208743" y="4298132"/>
                </a:lnTo>
                <a:lnTo>
                  <a:pt x="0" y="4298132"/>
                </a:lnTo>
                <a:lnTo>
                  <a:pt x="0" y="0"/>
                </a:lnTo>
                <a:close/>
              </a:path>
            </a:pathLst>
          </a:custGeom>
          <a:blipFill>
            <a:blip r:embed="rId10"/>
            <a:stretch>
              <a:fillRect/>
            </a:stretch>
          </a:blipFill>
        </p:spPr>
        <p:txBody>
          <a:bodyPr/>
          <a:lstStyle/>
          <a:p>
            <a:endParaRPr lang="en-CA"/>
          </a:p>
        </p:txBody>
      </p:sp>
      <p:sp>
        <p:nvSpPr>
          <p:cNvPr id="11" name="Freeform 11"/>
          <p:cNvSpPr/>
          <p:nvPr/>
        </p:nvSpPr>
        <p:spPr>
          <a:xfrm>
            <a:off x="11999632" y="5571163"/>
            <a:ext cx="4280714" cy="4393364"/>
          </a:xfrm>
          <a:custGeom>
            <a:avLst/>
            <a:gdLst/>
            <a:ahLst/>
            <a:cxnLst/>
            <a:rect l="l" t="t" r="r" b="b"/>
            <a:pathLst>
              <a:path w="4280714" h="4393364">
                <a:moveTo>
                  <a:pt x="0" y="0"/>
                </a:moveTo>
                <a:lnTo>
                  <a:pt x="4280714" y="0"/>
                </a:lnTo>
                <a:lnTo>
                  <a:pt x="4280714" y="4393364"/>
                </a:lnTo>
                <a:lnTo>
                  <a:pt x="0" y="4393364"/>
                </a:lnTo>
                <a:lnTo>
                  <a:pt x="0" y="0"/>
                </a:lnTo>
                <a:close/>
              </a:path>
            </a:pathLst>
          </a:custGeom>
          <a:blipFill>
            <a:blip r:embed="rId11"/>
            <a:stretch>
              <a:fillRect/>
            </a:stretch>
          </a:blipFill>
        </p:spPr>
        <p:txBody>
          <a:bodyPr/>
          <a:lstStyle/>
          <a:p>
            <a:endParaRPr lang="en-CA"/>
          </a:p>
        </p:txBody>
      </p:sp>
      <p:sp>
        <p:nvSpPr>
          <p:cNvPr id="12" name="TextBox 12"/>
          <p:cNvSpPr txBox="1"/>
          <p:nvPr/>
        </p:nvSpPr>
        <p:spPr>
          <a:xfrm>
            <a:off x="2580177" y="124908"/>
            <a:ext cx="13777305" cy="971966"/>
          </a:xfrm>
          <a:prstGeom prst="rect">
            <a:avLst/>
          </a:prstGeom>
        </p:spPr>
        <p:txBody>
          <a:bodyPr lIns="0" tIns="0" rIns="0" bIns="0" rtlCol="0" anchor="t">
            <a:spAutoFit/>
          </a:bodyPr>
          <a:lstStyle/>
          <a:p>
            <a:pPr algn="ctr">
              <a:lnSpc>
                <a:spcPts val="7406"/>
              </a:lnSpc>
            </a:pPr>
            <a:r>
              <a:rPr lang="en-US" sz="6987">
                <a:solidFill>
                  <a:srgbClr val="FFFFFF"/>
                </a:solidFill>
                <a:latin typeface="Anton"/>
                <a:ea typeface="Anton"/>
                <a:cs typeface="Anton"/>
                <a:sym typeface="Anton"/>
              </a:rPr>
              <a:t>STATISTICS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TextBox 3"/>
          <p:cNvSpPr txBox="1"/>
          <p:nvPr/>
        </p:nvSpPr>
        <p:spPr>
          <a:xfrm>
            <a:off x="1465676" y="3173782"/>
            <a:ext cx="15356647" cy="3193496"/>
          </a:xfrm>
          <a:prstGeom prst="rect">
            <a:avLst/>
          </a:prstGeom>
        </p:spPr>
        <p:txBody>
          <a:bodyPr lIns="0" tIns="0" rIns="0" bIns="0" rtlCol="0" anchor="t">
            <a:spAutoFit/>
          </a:bodyPr>
          <a:lstStyle/>
          <a:p>
            <a:pPr algn="ctr">
              <a:lnSpc>
                <a:spcPts val="8379"/>
              </a:lnSpc>
            </a:pPr>
            <a:r>
              <a:rPr lang="en-US" sz="7687" spc="284">
                <a:solidFill>
                  <a:srgbClr val="FFFFFF"/>
                </a:solidFill>
                <a:latin typeface="Anton"/>
                <a:ea typeface="Anton"/>
                <a:cs typeface="Anton"/>
                <a:sym typeface="Anton"/>
              </a:rPr>
              <a:t>DATA PREPARATION</a:t>
            </a:r>
          </a:p>
          <a:p>
            <a:pPr algn="ctr">
              <a:lnSpc>
                <a:spcPts val="8379"/>
              </a:lnSpc>
            </a:pPr>
            <a:r>
              <a:rPr lang="en-US" sz="7687" spc="284">
                <a:solidFill>
                  <a:srgbClr val="FFFFFF"/>
                </a:solidFill>
                <a:latin typeface="Anton"/>
                <a:ea typeface="Anton"/>
                <a:cs typeface="Anton"/>
                <a:sym typeface="Anton"/>
              </a:rPr>
              <a:t>&amp; </a:t>
            </a:r>
          </a:p>
          <a:p>
            <a:pPr algn="ctr">
              <a:lnSpc>
                <a:spcPts val="8379"/>
              </a:lnSpc>
            </a:pPr>
            <a:r>
              <a:rPr lang="en-US" sz="7687" spc="284">
                <a:solidFill>
                  <a:srgbClr val="FFFFFF"/>
                </a:solidFill>
                <a:latin typeface="Anton"/>
                <a:ea typeface="Anton"/>
                <a:cs typeface="Anton"/>
                <a:sym typeface="Anton"/>
              </a:rPr>
              <a:t>CNN MODEL IMPLEMENTATION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Freeform 3"/>
          <p:cNvSpPr/>
          <p:nvPr/>
        </p:nvSpPr>
        <p:spPr>
          <a:xfrm rot="-2595346">
            <a:off x="14113396" y="-295245"/>
            <a:ext cx="5160642" cy="6197277"/>
          </a:xfrm>
          <a:custGeom>
            <a:avLst/>
            <a:gdLst/>
            <a:ahLst/>
            <a:cxnLst/>
            <a:rect l="l" t="t" r="r" b="b"/>
            <a:pathLst>
              <a:path w="5160642" h="6197277">
                <a:moveTo>
                  <a:pt x="0" y="0"/>
                </a:moveTo>
                <a:lnTo>
                  <a:pt x="5160642" y="0"/>
                </a:lnTo>
                <a:lnTo>
                  <a:pt x="5160642" y="6197278"/>
                </a:lnTo>
                <a:lnTo>
                  <a:pt x="0" y="6197278"/>
                </a:lnTo>
                <a:lnTo>
                  <a:pt x="0" y="0"/>
                </a:lnTo>
                <a:close/>
              </a:path>
            </a:pathLst>
          </a:custGeom>
          <a:blipFill>
            <a:blip r:embed="rId3">
              <a:alphaModFix amt="10999"/>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5421090" y="3941875"/>
            <a:ext cx="3875673" cy="7329878"/>
          </a:xfrm>
          <a:custGeom>
            <a:avLst/>
            <a:gdLst/>
            <a:ahLst/>
            <a:cxnLst/>
            <a:rect l="l" t="t" r="r" b="b"/>
            <a:pathLst>
              <a:path w="3875673" h="7329878">
                <a:moveTo>
                  <a:pt x="0" y="0"/>
                </a:moveTo>
                <a:lnTo>
                  <a:pt x="3875673" y="0"/>
                </a:lnTo>
                <a:lnTo>
                  <a:pt x="3875673" y="7329878"/>
                </a:lnTo>
                <a:lnTo>
                  <a:pt x="0" y="7329878"/>
                </a:lnTo>
                <a:lnTo>
                  <a:pt x="0" y="0"/>
                </a:lnTo>
                <a:close/>
              </a:path>
            </a:pathLst>
          </a:custGeom>
          <a:blipFill>
            <a:blip r:embed="rId5">
              <a:alphaModFix amt="6999"/>
            </a:blip>
            <a:stretch>
              <a:fillRect/>
            </a:stretch>
          </a:blipFill>
        </p:spPr>
        <p:txBody>
          <a:bodyPr/>
          <a:lstStyle/>
          <a:p>
            <a:endParaRPr lang="en-CA"/>
          </a:p>
        </p:txBody>
      </p:sp>
      <p:sp>
        <p:nvSpPr>
          <p:cNvPr id="5" name="Freeform 5"/>
          <p:cNvSpPr/>
          <p:nvPr/>
        </p:nvSpPr>
        <p:spPr>
          <a:xfrm>
            <a:off x="-3449159" y="4979398"/>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6">
              <a:alphaModFix amt="40000"/>
            </a:blip>
            <a:stretch>
              <a:fillRect/>
            </a:stretch>
          </a:blipFill>
        </p:spPr>
        <p:txBody>
          <a:bodyPr/>
          <a:lstStyle/>
          <a:p>
            <a:endParaRPr lang="en-CA"/>
          </a:p>
        </p:txBody>
      </p:sp>
      <p:sp>
        <p:nvSpPr>
          <p:cNvPr id="6" name="Freeform 6"/>
          <p:cNvSpPr/>
          <p:nvPr/>
        </p:nvSpPr>
        <p:spPr>
          <a:xfrm>
            <a:off x="-891337" y="7606814"/>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7">
              <a:alphaModFix amt="7999"/>
              <a:extLst>
                <a:ext uri="{96DAC541-7B7A-43D3-8B79-37D633B846F1}">
                  <asvg:svgBlip xmlns:asvg="http://schemas.microsoft.com/office/drawing/2016/SVG/main" r:embed="rId8"/>
                </a:ext>
              </a:extLst>
            </a:blip>
            <a:stretch>
              <a:fillRect/>
            </a:stretch>
          </a:blipFill>
        </p:spPr>
        <p:txBody>
          <a:bodyPr/>
          <a:lstStyle/>
          <a:p>
            <a:endParaRPr lang="en-CA"/>
          </a:p>
        </p:txBody>
      </p:sp>
      <p:sp>
        <p:nvSpPr>
          <p:cNvPr id="7" name="Freeform 7"/>
          <p:cNvSpPr/>
          <p:nvPr/>
        </p:nvSpPr>
        <p:spPr>
          <a:xfrm>
            <a:off x="1090568" y="2666358"/>
            <a:ext cx="15447048" cy="1173919"/>
          </a:xfrm>
          <a:custGeom>
            <a:avLst/>
            <a:gdLst/>
            <a:ahLst/>
            <a:cxnLst/>
            <a:rect l="l" t="t" r="r" b="b"/>
            <a:pathLst>
              <a:path w="15447048" h="1173919">
                <a:moveTo>
                  <a:pt x="0" y="0"/>
                </a:moveTo>
                <a:lnTo>
                  <a:pt x="15447048" y="0"/>
                </a:lnTo>
                <a:lnTo>
                  <a:pt x="15447048" y="1173919"/>
                </a:lnTo>
                <a:lnTo>
                  <a:pt x="0" y="1173919"/>
                </a:lnTo>
                <a:lnTo>
                  <a:pt x="0" y="0"/>
                </a:lnTo>
                <a:close/>
              </a:path>
            </a:pathLst>
          </a:custGeom>
          <a:blipFill>
            <a:blip r:embed="rId9"/>
            <a:stretch>
              <a:fillRect l="-397" t="-94859"/>
            </a:stretch>
          </a:blipFill>
        </p:spPr>
        <p:txBody>
          <a:bodyPr/>
          <a:lstStyle/>
          <a:p>
            <a:endParaRPr lang="en-CA"/>
          </a:p>
        </p:txBody>
      </p:sp>
      <p:sp>
        <p:nvSpPr>
          <p:cNvPr id="8" name="Freeform 8"/>
          <p:cNvSpPr/>
          <p:nvPr/>
        </p:nvSpPr>
        <p:spPr>
          <a:xfrm>
            <a:off x="1122969" y="5432409"/>
            <a:ext cx="15262378" cy="1602550"/>
          </a:xfrm>
          <a:custGeom>
            <a:avLst/>
            <a:gdLst/>
            <a:ahLst/>
            <a:cxnLst/>
            <a:rect l="l" t="t" r="r" b="b"/>
            <a:pathLst>
              <a:path w="15262378" h="1602550">
                <a:moveTo>
                  <a:pt x="0" y="0"/>
                </a:moveTo>
                <a:lnTo>
                  <a:pt x="15262378" y="0"/>
                </a:lnTo>
                <a:lnTo>
                  <a:pt x="15262378" y="1602549"/>
                </a:lnTo>
                <a:lnTo>
                  <a:pt x="0" y="1602549"/>
                </a:lnTo>
                <a:lnTo>
                  <a:pt x="0" y="0"/>
                </a:lnTo>
                <a:close/>
              </a:path>
            </a:pathLst>
          </a:custGeom>
          <a:blipFill>
            <a:blip r:embed="rId10"/>
            <a:stretch>
              <a:fillRect/>
            </a:stretch>
          </a:blipFill>
        </p:spPr>
        <p:txBody>
          <a:bodyPr/>
          <a:lstStyle/>
          <a:p>
            <a:endParaRPr lang="en-CA"/>
          </a:p>
        </p:txBody>
      </p:sp>
      <p:sp>
        <p:nvSpPr>
          <p:cNvPr id="9" name="Freeform 9"/>
          <p:cNvSpPr/>
          <p:nvPr/>
        </p:nvSpPr>
        <p:spPr>
          <a:xfrm>
            <a:off x="1028700" y="8170554"/>
            <a:ext cx="15356647" cy="1478077"/>
          </a:xfrm>
          <a:custGeom>
            <a:avLst/>
            <a:gdLst/>
            <a:ahLst/>
            <a:cxnLst/>
            <a:rect l="l" t="t" r="r" b="b"/>
            <a:pathLst>
              <a:path w="15356647" h="1478077">
                <a:moveTo>
                  <a:pt x="0" y="0"/>
                </a:moveTo>
                <a:lnTo>
                  <a:pt x="15356647" y="0"/>
                </a:lnTo>
                <a:lnTo>
                  <a:pt x="15356647" y="1478077"/>
                </a:lnTo>
                <a:lnTo>
                  <a:pt x="0" y="1478077"/>
                </a:lnTo>
                <a:lnTo>
                  <a:pt x="0" y="0"/>
                </a:lnTo>
                <a:close/>
              </a:path>
            </a:pathLst>
          </a:custGeom>
          <a:blipFill>
            <a:blip r:embed="rId11"/>
            <a:stretch>
              <a:fillRect/>
            </a:stretch>
          </a:blipFill>
        </p:spPr>
        <p:txBody>
          <a:bodyPr/>
          <a:lstStyle/>
          <a:p>
            <a:endParaRPr lang="en-CA"/>
          </a:p>
        </p:txBody>
      </p:sp>
      <p:sp>
        <p:nvSpPr>
          <p:cNvPr id="10" name="TextBox 10"/>
          <p:cNvSpPr txBox="1"/>
          <p:nvPr/>
        </p:nvSpPr>
        <p:spPr>
          <a:xfrm>
            <a:off x="1028700" y="379582"/>
            <a:ext cx="15356647" cy="1078946"/>
          </a:xfrm>
          <a:prstGeom prst="rect">
            <a:avLst/>
          </a:prstGeom>
        </p:spPr>
        <p:txBody>
          <a:bodyPr lIns="0" tIns="0" rIns="0" bIns="0" rtlCol="0" anchor="t">
            <a:spAutoFit/>
          </a:bodyPr>
          <a:lstStyle/>
          <a:p>
            <a:pPr algn="l">
              <a:lnSpc>
                <a:spcPts val="8379"/>
              </a:lnSpc>
            </a:pPr>
            <a:r>
              <a:rPr lang="en-US" sz="7687" spc="284">
                <a:solidFill>
                  <a:srgbClr val="FFFFFF"/>
                </a:solidFill>
                <a:latin typeface="Anton"/>
                <a:ea typeface="Anton"/>
                <a:cs typeface="Anton"/>
                <a:sym typeface="Anton"/>
              </a:rPr>
              <a:t>DATA PREPARATION</a:t>
            </a:r>
          </a:p>
        </p:txBody>
      </p:sp>
      <p:sp>
        <p:nvSpPr>
          <p:cNvPr id="11" name="TextBox 11"/>
          <p:cNvSpPr txBox="1"/>
          <p:nvPr/>
        </p:nvSpPr>
        <p:spPr>
          <a:xfrm>
            <a:off x="673300" y="1402708"/>
            <a:ext cx="15883349" cy="1092200"/>
          </a:xfrm>
          <a:prstGeom prst="rect">
            <a:avLst/>
          </a:prstGeom>
        </p:spPr>
        <p:txBody>
          <a:bodyPr lIns="0" tIns="0" rIns="0" bIns="0" rtlCol="0" anchor="t">
            <a:spAutoFit/>
          </a:bodyPr>
          <a:lstStyle/>
          <a:p>
            <a:pPr algn="l">
              <a:lnSpc>
                <a:spcPts val="2800"/>
              </a:lnSpc>
            </a:pPr>
            <a:endParaRP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The dataset is first split into training (80%) and validation (20%) sets using stratified sampling based on class labels (ClassId). This ensures consistent class distribution across subsets, which is especially important for reliable evaluation during training.</a:t>
            </a:r>
          </a:p>
        </p:txBody>
      </p:sp>
      <p:sp>
        <p:nvSpPr>
          <p:cNvPr id="12" name="TextBox 12"/>
          <p:cNvSpPr txBox="1"/>
          <p:nvPr/>
        </p:nvSpPr>
        <p:spPr>
          <a:xfrm>
            <a:off x="673300" y="4168759"/>
            <a:ext cx="16469578" cy="1092200"/>
          </a:xfrm>
          <a:prstGeom prst="rect">
            <a:avLst/>
          </a:prstGeom>
        </p:spPr>
        <p:txBody>
          <a:bodyPr lIns="0" tIns="0" rIns="0" bIns="0" rtlCol="0" anchor="t">
            <a:spAutoFit/>
          </a:bodyPr>
          <a:lstStyle/>
          <a:p>
            <a:pPr marL="431801" lvl="1" indent="-215900" algn="l">
              <a:lnSpc>
                <a:spcPts val="2800"/>
              </a:lnSpc>
              <a:spcBef>
                <a:spcPct val="0"/>
              </a:spcBef>
              <a:buFont typeface="Arial"/>
              <a:buChar char="•"/>
            </a:pPr>
            <a:r>
              <a:rPr lang="en-US" sz="2000" u="none" strike="noStrike">
                <a:solidFill>
                  <a:srgbClr val="FFFFFF"/>
                </a:solidFill>
                <a:latin typeface="Codec Pro"/>
                <a:ea typeface="Codec Pro"/>
                <a:cs typeface="Codec Pro"/>
                <a:sym typeface="Codec Pro"/>
              </a:rPr>
              <a:t>The image data is then loaded using a custom load_data function, which resizes all inputs to (32, 32, 3), standardizing the input dimensions for the CNN. This preprocessing step ensures compatibility with the model architecture while helping reduce computational overhead.</a:t>
            </a:r>
          </a:p>
        </p:txBody>
      </p:sp>
      <p:sp>
        <p:nvSpPr>
          <p:cNvPr id="13" name="TextBox 13"/>
          <p:cNvSpPr txBox="1"/>
          <p:nvPr/>
        </p:nvSpPr>
        <p:spPr>
          <a:xfrm>
            <a:off x="673300" y="7194064"/>
            <a:ext cx="16881027" cy="739775"/>
          </a:xfrm>
          <a:prstGeom prst="rect">
            <a:avLst/>
          </a:prstGeom>
        </p:spPr>
        <p:txBody>
          <a:bodyPr lIns="0" tIns="0" rIns="0" bIns="0" rtlCol="0" anchor="t">
            <a:spAutoFit/>
          </a:bodyPr>
          <a:lstStyle/>
          <a:p>
            <a:pPr marL="431801" lvl="1" indent="-215900" algn="l">
              <a:lnSpc>
                <a:spcPts val="2800"/>
              </a:lnSpc>
              <a:spcBef>
                <a:spcPct val="0"/>
              </a:spcBef>
              <a:buFont typeface="Arial"/>
              <a:buChar char="•"/>
            </a:pPr>
            <a:r>
              <a:rPr lang="en-US" sz="2000" u="none" strike="noStrike">
                <a:solidFill>
                  <a:srgbClr val="FFFFFF"/>
                </a:solidFill>
                <a:latin typeface="Codec Pro"/>
                <a:ea typeface="Codec Pro"/>
                <a:cs typeface="Codec Pro"/>
                <a:sym typeface="Codec Pro"/>
              </a:rPr>
              <a:t>Labels from the training, validation, and test sets are converted into one-hot encoded vectors using to_categorical().  This transformation is essential for using categorical cross-entropy loss, which expects target outputs in a probabilistic vector format.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Freeform 3"/>
          <p:cNvSpPr/>
          <p:nvPr/>
        </p:nvSpPr>
        <p:spPr>
          <a:xfrm>
            <a:off x="15452396" y="9012685"/>
            <a:ext cx="639926" cy="768471"/>
          </a:xfrm>
          <a:custGeom>
            <a:avLst/>
            <a:gdLst/>
            <a:ahLst/>
            <a:cxnLst/>
            <a:rect l="l" t="t" r="r" b="b"/>
            <a:pathLst>
              <a:path w="639926" h="768471">
                <a:moveTo>
                  <a:pt x="0" y="0"/>
                </a:moveTo>
                <a:lnTo>
                  <a:pt x="639927" y="0"/>
                </a:lnTo>
                <a:lnTo>
                  <a:pt x="639927"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023995" y="3939722"/>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5">
              <a:alphaModFix amt="18000"/>
            </a:blip>
            <a:stretch>
              <a:fillRect/>
            </a:stretch>
          </a:blipFill>
        </p:spPr>
        <p:txBody>
          <a:bodyPr/>
          <a:lstStyle/>
          <a:p>
            <a:endParaRPr lang="en-CA"/>
          </a:p>
        </p:txBody>
      </p:sp>
      <p:sp>
        <p:nvSpPr>
          <p:cNvPr id="5" name="Freeform 5"/>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6">
              <a:alphaModFix amt="57000"/>
            </a:blip>
            <a:stretch>
              <a:fillRect/>
            </a:stretch>
          </a:blipFill>
        </p:spPr>
        <p:txBody>
          <a:bodyPr/>
          <a:lstStyle/>
          <a:p>
            <a:endParaRPr lang="en-CA"/>
          </a:p>
        </p:txBody>
      </p:sp>
      <p:sp>
        <p:nvSpPr>
          <p:cNvPr id="6" name="Freeform 6"/>
          <p:cNvSpPr/>
          <p:nvPr/>
        </p:nvSpPr>
        <p:spPr>
          <a:xfrm>
            <a:off x="11660256" y="-3229881"/>
            <a:ext cx="10974678" cy="9369631"/>
          </a:xfrm>
          <a:custGeom>
            <a:avLst/>
            <a:gdLst/>
            <a:ahLst/>
            <a:cxnLst/>
            <a:rect l="l" t="t" r="r" b="b"/>
            <a:pathLst>
              <a:path w="10974678" h="9369631">
                <a:moveTo>
                  <a:pt x="0" y="0"/>
                </a:moveTo>
                <a:lnTo>
                  <a:pt x="10974678" y="0"/>
                </a:lnTo>
                <a:lnTo>
                  <a:pt x="10974678" y="9369632"/>
                </a:lnTo>
                <a:lnTo>
                  <a:pt x="0" y="9369632"/>
                </a:lnTo>
                <a:lnTo>
                  <a:pt x="0" y="0"/>
                </a:lnTo>
                <a:close/>
              </a:path>
            </a:pathLst>
          </a:custGeom>
          <a:blipFill>
            <a:blip r:embed="rId6">
              <a:alphaModFix amt="40000"/>
            </a:blip>
            <a:stretch>
              <a:fillRect/>
            </a:stretch>
          </a:blipFill>
        </p:spPr>
        <p:txBody>
          <a:bodyPr/>
          <a:lstStyle/>
          <a:p>
            <a:endParaRPr lang="en-CA"/>
          </a:p>
        </p:txBody>
      </p:sp>
      <p:sp>
        <p:nvSpPr>
          <p:cNvPr id="7" name="Freeform 7"/>
          <p:cNvSpPr/>
          <p:nvPr/>
        </p:nvSpPr>
        <p:spPr>
          <a:xfrm>
            <a:off x="4360830" y="631036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7">
              <a:alphaModFix amt="25000"/>
              <a:extLst>
                <a:ext uri="{96DAC541-7B7A-43D3-8B79-37D633B846F1}">
                  <asvg:svgBlip xmlns:asvg="http://schemas.microsoft.com/office/drawing/2016/SVG/main" r:embed="rId8"/>
                </a:ext>
              </a:extLst>
            </a:blip>
            <a:stretch>
              <a:fillRect/>
            </a:stretch>
          </a:blipFill>
        </p:spPr>
        <p:txBody>
          <a:bodyPr/>
          <a:lstStyle/>
          <a:p>
            <a:endParaRPr lang="en-CA"/>
          </a:p>
        </p:txBody>
      </p:sp>
      <p:sp>
        <p:nvSpPr>
          <p:cNvPr id="8" name="Freeform 8"/>
          <p:cNvSpPr/>
          <p:nvPr/>
        </p:nvSpPr>
        <p:spPr>
          <a:xfrm>
            <a:off x="-156101" y="-1217357"/>
            <a:ext cx="11660256" cy="11818828"/>
          </a:xfrm>
          <a:custGeom>
            <a:avLst/>
            <a:gdLst/>
            <a:ahLst/>
            <a:cxnLst/>
            <a:rect l="l" t="t" r="r" b="b"/>
            <a:pathLst>
              <a:path w="11660256" h="11818828">
                <a:moveTo>
                  <a:pt x="0" y="0"/>
                </a:moveTo>
                <a:lnTo>
                  <a:pt x="11660256" y="0"/>
                </a:lnTo>
                <a:lnTo>
                  <a:pt x="11660256" y="11818828"/>
                </a:lnTo>
                <a:lnTo>
                  <a:pt x="0" y="11818828"/>
                </a:lnTo>
                <a:lnTo>
                  <a:pt x="0" y="0"/>
                </a:lnTo>
                <a:close/>
              </a:path>
            </a:pathLst>
          </a:custGeom>
          <a:blipFill>
            <a:blip r:embed="rId9">
              <a:alphaModFix amt="25000"/>
            </a:blip>
            <a:stretch>
              <a:fillRect l="-37532" r="-2758"/>
            </a:stretch>
          </a:blipFill>
        </p:spPr>
        <p:txBody>
          <a:bodyPr/>
          <a:lstStyle/>
          <a:p>
            <a:endParaRPr lang="en-CA"/>
          </a:p>
        </p:txBody>
      </p:sp>
      <p:sp>
        <p:nvSpPr>
          <p:cNvPr id="9" name="Freeform 9"/>
          <p:cNvSpPr/>
          <p:nvPr/>
        </p:nvSpPr>
        <p:spPr>
          <a:xfrm>
            <a:off x="1028700" y="6139751"/>
            <a:ext cx="16230600" cy="3895344"/>
          </a:xfrm>
          <a:custGeom>
            <a:avLst/>
            <a:gdLst/>
            <a:ahLst/>
            <a:cxnLst/>
            <a:rect l="l" t="t" r="r" b="b"/>
            <a:pathLst>
              <a:path w="16230600" h="3895344">
                <a:moveTo>
                  <a:pt x="0" y="0"/>
                </a:moveTo>
                <a:lnTo>
                  <a:pt x="16230600" y="0"/>
                </a:lnTo>
                <a:lnTo>
                  <a:pt x="16230600" y="3895344"/>
                </a:lnTo>
                <a:lnTo>
                  <a:pt x="0" y="3895344"/>
                </a:lnTo>
                <a:lnTo>
                  <a:pt x="0" y="0"/>
                </a:lnTo>
                <a:close/>
              </a:path>
            </a:pathLst>
          </a:custGeom>
          <a:blipFill>
            <a:blip r:embed="rId10"/>
            <a:stretch>
              <a:fillRect/>
            </a:stretch>
          </a:blipFill>
        </p:spPr>
        <p:txBody>
          <a:bodyPr/>
          <a:lstStyle/>
          <a:p>
            <a:endParaRPr lang="en-CA"/>
          </a:p>
        </p:txBody>
      </p:sp>
      <p:sp>
        <p:nvSpPr>
          <p:cNvPr id="10" name="TextBox 10"/>
          <p:cNvSpPr txBox="1"/>
          <p:nvPr/>
        </p:nvSpPr>
        <p:spPr>
          <a:xfrm>
            <a:off x="1028700" y="375989"/>
            <a:ext cx="15712047" cy="1078946"/>
          </a:xfrm>
          <a:prstGeom prst="rect">
            <a:avLst/>
          </a:prstGeom>
        </p:spPr>
        <p:txBody>
          <a:bodyPr lIns="0" tIns="0" rIns="0" bIns="0" rtlCol="0" anchor="t">
            <a:spAutoFit/>
          </a:bodyPr>
          <a:lstStyle/>
          <a:p>
            <a:pPr algn="l">
              <a:lnSpc>
                <a:spcPts val="8379"/>
              </a:lnSpc>
            </a:pPr>
            <a:r>
              <a:rPr lang="en-US" sz="7687" spc="284">
                <a:solidFill>
                  <a:srgbClr val="FFFFFF"/>
                </a:solidFill>
                <a:latin typeface="Anton"/>
                <a:ea typeface="Anton"/>
                <a:cs typeface="Anton"/>
                <a:sym typeface="Anton"/>
              </a:rPr>
              <a:t>DATA AUGMENTATION</a:t>
            </a:r>
          </a:p>
        </p:txBody>
      </p:sp>
      <p:sp>
        <p:nvSpPr>
          <p:cNvPr id="11" name="TextBox 11"/>
          <p:cNvSpPr txBox="1"/>
          <p:nvPr/>
        </p:nvSpPr>
        <p:spPr>
          <a:xfrm>
            <a:off x="1028700" y="1798680"/>
            <a:ext cx="13056521" cy="3911600"/>
          </a:xfrm>
          <a:prstGeom prst="rect">
            <a:avLst/>
          </a:prstGeom>
        </p:spPr>
        <p:txBody>
          <a:bodyPr lIns="0" tIns="0" rIns="0" bIns="0" rtlCol="0" anchor="t">
            <a:spAutoFit/>
          </a:bodyPr>
          <a:lstStyle/>
          <a:p>
            <a:pPr algn="l">
              <a:lnSpc>
                <a:spcPts val="2800"/>
              </a:lnSpc>
            </a:pPr>
            <a:endParaRPr/>
          </a:p>
          <a:p>
            <a:pPr algn="l">
              <a:lnSpc>
                <a:spcPts val="2800"/>
              </a:lnSpc>
            </a:pPr>
            <a:r>
              <a:rPr lang="en-US" sz="2000">
                <a:solidFill>
                  <a:srgbClr val="FFFFFF"/>
                </a:solidFill>
                <a:latin typeface="Codec Pro"/>
                <a:ea typeface="Codec Pro"/>
                <a:cs typeface="Codec Pro"/>
                <a:sym typeface="Codec Pro"/>
              </a:rPr>
              <a:t>A </a:t>
            </a:r>
            <a:r>
              <a:rPr lang="en-US" sz="2000" b="1">
                <a:solidFill>
                  <a:srgbClr val="FFFFFF"/>
                </a:solidFill>
                <a:latin typeface="Codec Pro Bold"/>
                <a:ea typeface="Codec Pro Bold"/>
                <a:cs typeface="Codec Pro Bold"/>
                <a:sym typeface="Codec Pro Bold"/>
              </a:rPr>
              <a:t>ImageDataGenerator</a:t>
            </a:r>
            <a:r>
              <a:rPr lang="en-US" sz="2000">
                <a:solidFill>
                  <a:srgbClr val="FFFFFF"/>
                </a:solidFill>
                <a:latin typeface="Codec Pro"/>
                <a:ea typeface="Codec Pro"/>
                <a:cs typeface="Codec Pro"/>
                <a:sym typeface="Codec Pro"/>
              </a:rPr>
              <a:t> is configured to apply random transformations to training images, which include:</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Rotation: ±30°</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Width and height shifts: ±20%</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Zooming: ±10%</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Fill mode: 'nearest'</a:t>
            </a:r>
          </a:p>
          <a:p>
            <a:pPr algn="l">
              <a:lnSpc>
                <a:spcPts val="2800"/>
              </a:lnSpc>
            </a:pPr>
            <a:endParaRPr lang="en-US" sz="2000">
              <a:solidFill>
                <a:srgbClr val="FFFFFF"/>
              </a:solidFill>
              <a:latin typeface="Codec Pro"/>
              <a:ea typeface="Codec Pro"/>
              <a:cs typeface="Codec Pro"/>
              <a:sym typeface="Codec Pro"/>
            </a:endParaRPr>
          </a:p>
          <a:p>
            <a:pPr algn="l">
              <a:lnSpc>
                <a:spcPts val="2800"/>
              </a:lnSpc>
            </a:pPr>
            <a:r>
              <a:rPr lang="en-US" sz="2000">
                <a:solidFill>
                  <a:srgbClr val="FFFFFF"/>
                </a:solidFill>
                <a:latin typeface="Codec Pro"/>
                <a:ea typeface="Codec Pro"/>
                <a:cs typeface="Codec Pro"/>
                <a:sym typeface="Codec Pro"/>
              </a:rPr>
              <a:t>The augmentation pipeline is applied to the training set using .fit() before training begins, allowing for seamless integration during the training process.</a:t>
            </a:r>
          </a:p>
          <a:p>
            <a:pPr algn="l">
              <a:lnSpc>
                <a:spcPts val="2800"/>
              </a:lnSpc>
            </a:pPr>
            <a:endParaRPr lang="en-US" sz="2000">
              <a:solidFill>
                <a:srgbClr val="FFFFFF"/>
              </a:solidFill>
              <a:latin typeface="Codec Pro"/>
              <a:ea typeface="Codec Pro"/>
              <a:cs typeface="Codec Pro"/>
              <a:sym typeface="Codec Pro"/>
            </a:endParaRPr>
          </a:p>
          <a:p>
            <a:pPr algn="ctr">
              <a:lnSpc>
                <a:spcPts val="2800"/>
              </a:lnSpc>
            </a:pPr>
            <a:endParaRPr lang="en-US" sz="2000">
              <a:solidFill>
                <a:srgbClr val="FFFFFF"/>
              </a:solidFill>
              <a:latin typeface="Codec Pro"/>
              <a:ea typeface="Codec Pro"/>
              <a:cs typeface="Codec Pro"/>
              <a:sym typeface="Codec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Freeform 3"/>
          <p:cNvSpPr/>
          <p:nvPr/>
        </p:nvSpPr>
        <p:spPr>
          <a:xfrm>
            <a:off x="-1023995" y="3939722"/>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4" name="Freeform 4"/>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57000"/>
            </a:blip>
            <a:stretch>
              <a:fillRect/>
            </a:stretch>
          </a:blipFill>
        </p:spPr>
        <p:txBody>
          <a:bodyPr/>
          <a:lstStyle/>
          <a:p>
            <a:endParaRPr lang="en-CA"/>
          </a:p>
        </p:txBody>
      </p:sp>
      <p:sp>
        <p:nvSpPr>
          <p:cNvPr id="5" name="Freeform 5"/>
          <p:cNvSpPr/>
          <p:nvPr/>
        </p:nvSpPr>
        <p:spPr>
          <a:xfrm>
            <a:off x="15054726" y="4173652"/>
            <a:ext cx="3875673" cy="7329878"/>
          </a:xfrm>
          <a:custGeom>
            <a:avLst/>
            <a:gdLst/>
            <a:ahLst/>
            <a:cxnLst/>
            <a:rect l="l" t="t" r="r" b="b"/>
            <a:pathLst>
              <a:path w="3875673" h="7329878">
                <a:moveTo>
                  <a:pt x="0" y="0"/>
                </a:moveTo>
                <a:lnTo>
                  <a:pt x="3875673" y="0"/>
                </a:lnTo>
                <a:lnTo>
                  <a:pt x="3875673"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6" name="Freeform 6"/>
          <p:cNvSpPr/>
          <p:nvPr/>
        </p:nvSpPr>
        <p:spPr>
          <a:xfrm>
            <a:off x="11723821" y="-2778802"/>
            <a:ext cx="10974678" cy="9369631"/>
          </a:xfrm>
          <a:custGeom>
            <a:avLst/>
            <a:gdLst/>
            <a:ahLst/>
            <a:cxnLst/>
            <a:rect l="l" t="t" r="r" b="b"/>
            <a:pathLst>
              <a:path w="10974678" h="9369631">
                <a:moveTo>
                  <a:pt x="0" y="0"/>
                </a:moveTo>
                <a:lnTo>
                  <a:pt x="10974677" y="0"/>
                </a:lnTo>
                <a:lnTo>
                  <a:pt x="10974677" y="9369631"/>
                </a:lnTo>
                <a:lnTo>
                  <a:pt x="0" y="9369631"/>
                </a:lnTo>
                <a:lnTo>
                  <a:pt x="0" y="0"/>
                </a:lnTo>
                <a:close/>
              </a:path>
            </a:pathLst>
          </a:custGeom>
          <a:blipFill>
            <a:blip r:embed="rId4">
              <a:alphaModFix amt="40000"/>
            </a:blip>
            <a:stretch>
              <a:fillRect/>
            </a:stretch>
          </a:blipFill>
        </p:spPr>
        <p:txBody>
          <a:bodyPr/>
          <a:lstStyle/>
          <a:p>
            <a:endParaRPr lang="en-CA"/>
          </a:p>
        </p:txBody>
      </p:sp>
      <p:sp>
        <p:nvSpPr>
          <p:cNvPr id="7" name="Freeform 7"/>
          <p:cNvSpPr/>
          <p:nvPr/>
        </p:nvSpPr>
        <p:spPr>
          <a:xfrm>
            <a:off x="14577233" y="150023"/>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5">
              <a:alphaModFix amt="25000"/>
              <a:extLst>
                <a:ext uri="{96DAC541-7B7A-43D3-8B79-37D633B846F1}">
                  <asvg:svgBlip xmlns:asvg="http://schemas.microsoft.com/office/drawing/2016/SVG/main" r:embed="rId6"/>
                </a:ext>
              </a:extLst>
            </a:blip>
            <a:stretch>
              <a:fillRect/>
            </a:stretch>
          </a:blipFill>
        </p:spPr>
        <p:txBody>
          <a:bodyPr/>
          <a:lstStyle/>
          <a:p>
            <a:endParaRPr lang="en-CA"/>
          </a:p>
        </p:txBody>
      </p:sp>
      <p:sp>
        <p:nvSpPr>
          <p:cNvPr id="8" name="Freeform 8"/>
          <p:cNvSpPr/>
          <p:nvPr/>
        </p:nvSpPr>
        <p:spPr>
          <a:xfrm>
            <a:off x="4360830" y="631036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5">
              <a:alphaModFix amt="25000"/>
              <a:extLst>
                <a:ext uri="{96DAC541-7B7A-43D3-8B79-37D633B846F1}">
                  <asvg:svgBlip xmlns:asvg="http://schemas.microsoft.com/office/drawing/2016/SVG/main" r:embed="rId6"/>
                </a:ext>
              </a:extLst>
            </a:blip>
            <a:stretch>
              <a:fillRect/>
            </a:stretch>
          </a:blipFill>
        </p:spPr>
        <p:txBody>
          <a:bodyPr/>
          <a:lstStyle/>
          <a:p>
            <a:endParaRPr lang="en-CA"/>
          </a:p>
        </p:txBody>
      </p:sp>
      <p:sp>
        <p:nvSpPr>
          <p:cNvPr id="9" name="Freeform 9"/>
          <p:cNvSpPr/>
          <p:nvPr/>
        </p:nvSpPr>
        <p:spPr>
          <a:xfrm rot="409969">
            <a:off x="10485069" y="736715"/>
            <a:ext cx="10492791" cy="10556001"/>
          </a:xfrm>
          <a:custGeom>
            <a:avLst/>
            <a:gdLst/>
            <a:ahLst/>
            <a:cxnLst/>
            <a:rect l="l" t="t" r="r" b="b"/>
            <a:pathLst>
              <a:path w="10492791" h="10556001">
                <a:moveTo>
                  <a:pt x="0" y="0"/>
                </a:moveTo>
                <a:lnTo>
                  <a:pt x="10492791" y="0"/>
                </a:lnTo>
                <a:lnTo>
                  <a:pt x="10492791" y="10556001"/>
                </a:lnTo>
                <a:lnTo>
                  <a:pt x="0" y="10556001"/>
                </a:lnTo>
                <a:lnTo>
                  <a:pt x="0" y="0"/>
                </a:lnTo>
                <a:close/>
              </a:path>
            </a:pathLst>
          </a:custGeom>
          <a:blipFill>
            <a:blip r:embed="rId7">
              <a:alphaModFix amt="53000"/>
            </a:blip>
            <a:stretch>
              <a:fillRect/>
            </a:stretch>
          </a:blipFill>
        </p:spPr>
        <p:txBody>
          <a:bodyPr/>
          <a:lstStyle/>
          <a:p>
            <a:endParaRPr lang="en-CA"/>
          </a:p>
        </p:txBody>
      </p:sp>
      <p:sp>
        <p:nvSpPr>
          <p:cNvPr id="10" name="TextBox 10"/>
          <p:cNvSpPr txBox="1"/>
          <p:nvPr/>
        </p:nvSpPr>
        <p:spPr>
          <a:xfrm>
            <a:off x="0" y="847180"/>
            <a:ext cx="16358839" cy="1058834"/>
          </a:xfrm>
          <a:prstGeom prst="rect">
            <a:avLst/>
          </a:prstGeom>
        </p:spPr>
        <p:txBody>
          <a:bodyPr lIns="0" tIns="0" rIns="0" bIns="0" rtlCol="0" anchor="t">
            <a:spAutoFit/>
          </a:bodyPr>
          <a:lstStyle/>
          <a:p>
            <a:pPr algn="ctr">
              <a:lnSpc>
                <a:spcPts val="8042"/>
              </a:lnSpc>
            </a:pPr>
            <a:r>
              <a:rPr lang="en-US" sz="7587">
                <a:solidFill>
                  <a:srgbClr val="FFFFFF"/>
                </a:solidFill>
                <a:latin typeface="Anton"/>
                <a:ea typeface="Anton"/>
                <a:cs typeface="Anton"/>
                <a:sym typeface="Anton"/>
              </a:rPr>
              <a:t>JUSTIFICATION FOR MODEL APPROACH</a:t>
            </a:r>
          </a:p>
        </p:txBody>
      </p:sp>
      <p:sp>
        <p:nvSpPr>
          <p:cNvPr id="11" name="TextBox 11"/>
          <p:cNvSpPr txBox="1"/>
          <p:nvPr/>
        </p:nvSpPr>
        <p:spPr>
          <a:xfrm>
            <a:off x="1634837" y="2534714"/>
            <a:ext cx="13509213" cy="6371161"/>
          </a:xfrm>
          <a:prstGeom prst="rect">
            <a:avLst/>
          </a:prstGeom>
        </p:spPr>
        <p:txBody>
          <a:bodyPr lIns="0" tIns="0" rIns="0" bIns="0" rtlCol="0" anchor="t">
            <a:spAutoFit/>
          </a:bodyPr>
          <a:lstStyle/>
          <a:p>
            <a:pPr algn="l">
              <a:lnSpc>
                <a:spcPts val="2800"/>
              </a:lnSpc>
            </a:pPr>
            <a:r>
              <a:rPr lang="en-US" sz="2000">
                <a:solidFill>
                  <a:srgbClr val="FFFFFF"/>
                </a:solidFill>
                <a:latin typeface="Codec Pro"/>
                <a:ea typeface="Codec Pro"/>
                <a:cs typeface="Codec Pro"/>
                <a:sym typeface="Codec Pro"/>
              </a:rPr>
              <a:t>Convolutional Neural Networks (CNNs) are widely used in image classification tasks due to their ability to automatically learn spatial hierarchies of features. In traffic sign recognition, CNNs can effectively capture visual patterns and symbol shapes regardless of variations in lighting, angle, or scale. This makes CNNs highly suitable for real-time traffic sign identification in autonomous driving systems.</a:t>
            </a:r>
          </a:p>
          <a:p>
            <a:pPr algn="l">
              <a:lnSpc>
                <a:spcPts val="3617"/>
              </a:lnSpc>
            </a:pPr>
            <a:endParaRPr lang="en-US" sz="2000">
              <a:solidFill>
                <a:srgbClr val="FFFFFF"/>
              </a:solidFill>
              <a:latin typeface="Codec Pro"/>
              <a:ea typeface="Codec Pro"/>
              <a:cs typeface="Codec Pro"/>
              <a:sym typeface="Codec Pro"/>
            </a:endParaRPr>
          </a:p>
          <a:p>
            <a:pPr algn="l">
              <a:lnSpc>
                <a:spcPts val="2800"/>
              </a:lnSpc>
            </a:pPr>
            <a:r>
              <a:rPr lang="en-US" sz="2000">
                <a:solidFill>
                  <a:srgbClr val="FFFFFF"/>
                </a:solidFill>
                <a:latin typeface="Codec Pro"/>
                <a:ea typeface="Codec Pro"/>
                <a:cs typeface="Codec Pro"/>
                <a:sym typeface="Codec Pro"/>
              </a:rPr>
              <a:t>Advantages of Using CNNs for Traffic Sign Recognition:</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Automatic feature extraction without manual preprocessing</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High accuracy in visual pattern recognition</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Robust to noise, distortion, and varying lighting conditions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Scalable to large datasets with different sign classes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Efficient use of parameters through weight sharing and local connectivity</a:t>
            </a:r>
          </a:p>
          <a:p>
            <a:pPr algn="l">
              <a:lnSpc>
                <a:spcPts val="3057"/>
              </a:lnSpc>
            </a:pPr>
            <a:endParaRPr lang="en-US" sz="2000">
              <a:solidFill>
                <a:srgbClr val="FFFFFF"/>
              </a:solidFill>
              <a:latin typeface="Codec Pro"/>
              <a:ea typeface="Codec Pro"/>
              <a:cs typeface="Codec Pro"/>
              <a:sym typeface="Codec Pro"/>
            </a:endParaRPr>
          </a:p>
          <a:p>
            <a:pPr algn="l">
              <a:lnSpc>
                <a:spcPts val="3057"/>
              </a:lnSpc>
            </a:pPr>
            <a:r>
              <a:rPr lang="en-US" sz="2183">
                <a:solidFill>
                  <a:srgbClr val="FFFFFF"/>
                </a:solidFill>
                <a:latin typeface="Codec Pro"/>
                <a:ea typeface="Codec Pro"/>
                <a:cs typeface="Codec Pro"/>
                <a:sym typeface="Codec Pro"/>
              </a:rPr>
              <a:t>CNNs are specifically designed for processing grid-like data such as images.</a:t>
            </a:r>
          </a:p>
          <a:p>
            <a:pPr algn="l">
              <a:lnSpc>
                <a:spcPts val="3057"/>
              </a:lnSpc>
              <a:spcBef>
                <a:spcPct val="0"/>
              </a:spcBef>
            </a:pPr>
            <a:r>
              <a:rPr lang="en-US" sz="2183">
                <a:solidFill>
                  <a:srgbClr val="FFFFFF"/>
                </a:solidFill>
                <a:latin typeface="Codec Pro"/>
                <a:ea typeface="Codec Pro"/>
                <a:cs typeface="Codec Pro"/>
                <a:sym typeface="Codec Pro"/>
              </a:rPr>
              <a:t>Their architecture mimics the visual cortex, allowing them to learn and generalize visual patterns more efficiently than traditional models. This makes them an ideal solution for identifying and classifying traffic signs in dynamic and unpredictable environments.</a:t>
            </a:r>
          </a:p>
          <a:p>
            <a:pPr algn="ctr">
              <a:lnSpc>
                <a:spcPts val="3617"/>
              </a:lnSpc>
              <a:spcBef>
                <a:spcPct val="0"/>
              </a:spcBef>
            </a:pPr>
            <a:endParaRPr lang="en-US" sz="2183">
              <a:solidFill>
                <a:srgbClr val="FFFFFF"/>
              </a:solidFill>
              <a:latin typeface="Codec Pro"/>
              <a:ea typeface="Codec Pro"/>
              <a:cs typeface="Codec Pro"/>
              <a:sym typeface="Codec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9222" b="-9222"/>
            </a:stretch>
          </a:blipFill>
        </p:spPr>
        <p:txBody>
          <a:bodyPr/>
          <a:lstStyle/>
          <a:p>
            <a:endParaRPr lang="en-CA"/>
          </a:p>
        </p:txBody>
      </p:sp>
      <p:sp>
        <p:nvSpPr>
          <p:cNvPr id="3" name="Freeform 3"/>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57000"/>
            </a:blip>
            <a:stretch>
              <a:fillRect/>
            </a:stretch>
          </a:blipFill>
        </p:spPr>
        <p:txBody>
          <a:bodyPr/>
          <a:lstStyle/>
          <a:p>
            <a:endParaRPr lang="en-CA"/>
          </a:p>
        </p:txBody>
      </p:sp>
      <p:sp>
        <p:nvSpPr>
          <p:cNvPr id="4" name="Freeform 4"/>
          <p:cNvSpPr/>
          <p:nvPr/>
        </p:nvSpPr>
        <p:spPr>
          <a:xfrm>
            <a:off x="15478116" y="5552687"/>
            <a:ext cx="2402543" cy="4543816"/>
          </a:xfrm>
          <a:custGeom>
            <a:avLst/>
            <a:gdLst/>
            <a:ahLst/>
            <a:cxnLst/>
            <a:rect l="l" t="t" r="r" b="b"/>
            <a:pathLst>
              <a:path w="2402543" h="4543816">
                <a:moveTo>
                  <a:pt x="0" y="0"/>
                </a:moveTo>
                <a:lnTo>
                  <a:pt x="2402543" y="0"/>
                </a:lnTo>
                <a:lnTo>
                  <a:pt x="2402543" y="4543816"/>
                </a:lnTo>
                <a:lnTo>
                  <a:pt x="0" y="4543816"/>
                </a:lnTo>
                <a:lnTo>
                  <a:pt x="0" y="0"/>
                </a:lnTo>
                <a:close/>
              </a:path>
            </a:pathLst>
          </a:custGeom>
          <a:blipFill>
            <a:blip r:embed="rId6">
              <a:alphaModFix amt="18000"/>
            </a:blip>
            <a:stretch>
              <a:fillRect/>
            </a:stretch>
          </a:blipFill>
        </p:spPr>
        <p:txBody>
          <a:bodyPr/>
          <a:lstStyle/>
          <a:p>
            <a:endParaRPr lang="en-CA"/>
          </a:p>
        </p:txBody>
      </p:sp>
      <p:sp>
        <p:nvSpPr>
          <p:cNvPr id="5" name="Freeform 5"/>
          <p:cNvSpPr/>
          <p:nvPr/>
        </p:nvSpPr>
        <p:spPr>
          <a:xfrm>
            <a:off x="9801147" y="-3628134"/>
            <a:ext cx="13098514" cy="11182856"/>
          </a:xfrm>
          <a:custGeom>
            <a:avLst/>
            <a:gdLst/>
            <a:ahLst/>
            <a:cxnLst/>
            <a:rect l="l" t="t" r="r" b="b"/>
            <a:pathLst>
              <a:path w="13098514" h="11182856">
                <a:moveTo>
                  <a:pt x="0" y="0"/>
                </a:moveTo>
                <a:lnTo>
                  <a:pt x="13098514" y="0"/>
                </a:lnTo>
                <a:lnTo>
                  <a:pt x="13098514" y="11182857"/>
                </a:lnTo>
                <a:lnTo>
                  <a:pt x="0" y="11182857"/>
                </a:lnTo>
                <a:lnTo>
                  <a:pt x="0" y="0"/>
                </a:lnTo>
                <a:close/>
              </a:path>
            </a:pathLst>
          </a:custGeom>
          <a:blipFill>
            <a:blip r:embed="rId5">
              <a:alphaModFix amt="40000"/>
            </a:blip>
            <a:stretch>
              <a:fillRect/>
            </a:stretch>
          </a:blipFill>
        </p:spPr>
        <p:txBody>
          <a:bodyPr/>
          <a:lstStyle/>
          <a:p>
            <a:endParaRPr lang="en-CA"/>
          </a:p>
        </p:txBody>
      </p:sp>
      <p:sp>
        <p:nvSpPr>
          <p:cNvPr id="6" name="Freeform 6"/>
          <p:cNvSpPr/>
          <p:nvPr/>
        </p:nvSpPr>
        <p:spPr>
          <a:xfrm>
            <a:off x="0" y="5786700"/>
            <a:ext cx="10632737" cy="4075790"/>
          </a:xfrm>
          <a:custGeom>
            <a:avLst/>
            <a:gdLst/>
            <a:ahLst/>
            <a:cxnLst/>
            <a:rect l="l" t="t" r="r" b="b"/>
            <a:pathLst>
              <a:path w="10632737" h="4075790">
                <a:moveTo>
                  <a:pt x="0" y="0"/>
                </a:moveTo>
                <a:lnTo>
                  <a:pt x="10632737" y="0"/>
                </a:lnTo>
                <a:lnTo>
                  <a:pt x="10632737" y="4075791"/>
                </a:lnTo>
                <a:lnTo>
                  <a:pt x="0" y="4075791"/>
                </a:lnTo>
                <a:lnTo>
                  <a:pt x="0" y="0"/>
                </a:lnTo>
                <a:close/>
              </a:path>
            </a:pathLst>
          </a:custGeom>
          <a:blipFill>
            <a:blip r:embed="rId7">
              <a:alphaModFix amt="12000"/>
            </a:blip>
            <a:stretch>
              <a:fillRect t="-6651" r="-3989" b="-7626"/>
            </a:stretch>
          </a:blipFill>
        </p:spPr>
        <p:txBody>
          <a:bodyPr/>
          <a:lstStyle/>
          <a:p>
            <a:endParaRPr lang="en-CA"/>
          </a:p>
        </p:txBody>
      </p:sp>
      <p:sp>
        <p:nvSpPr>
          <p:cNvPr id="7" name="TextBox 7"/>
          <p:cNvSpPr txBox="1"/>
          <p:nvPr/>
        </p:nvSpPr>
        <p:spPr>
          <a:xfrm>
            <a:off x="572335" y="546908"/>
            <a:ext cx="13687785" cy="1058834"/>
          </a:xfrm>
          <a:prstGeom prst="rect">
            <a:avLst/>
          </a:prstGeom>
        </p:spPr>
        <p:txBody>
          <a:bodyPr lIns="0" tIns="0" rIns="0" bIns="0" rtlCol="0" anchor="t">
            <a:spAutoFit/>
          </a:bodyPr>
          <a:lstStyle/>
          <a:p>
            <a:pPr algn="l">
              <a:lnSpc>
                <a:spcPts val="8042"/>
              </a:lnSpc>
            </a:pPr>
            <a:r>
              <a:rPr lang="en-US" sz="7587">
                <a:solidFill>
                  <a:srgbClr val="FFFFFF"/>
                </a:solidFill>
                <a:latin typeface="Anton"/>
                <a:ea typeface="Anton"/>
                <a:cs typeface="Anton"/>
                <a:sym typeface="Anton"/>
              </a:rPr>
              <a:t>CNN MODEL IMPLEMENTATION</a:t>
            </a:r>
          </a:p>
        </p:txBody>
      </p:sp>
      <p:sp>
        <p:nvSpPr>
          <p:cNvPr id="8" name="TextBox 8"/>
          <p:cNvSpPr txBox="1"/>
          <p:nvPr/>
        </p:nvSpPr>
        <p:spPr>
          <a:xfrm>
            <a:off x="523591" y="1971675"/>
            <a:ext cx="12968846" cy="109220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Codec Pro"/>
                <a:ea typeface="Codec Pro"/>
                <a:cs typeface="Codec Pro"/>
                <a:sym typeface="Codec Pro"/>
              </a:rPr>
              <a:t>We implemented a Convolutional Neural Network (CNN) using TensorFlow/Keras for multi-class image classification. The model was built with the Sequential API and trained using data augmentation to enhance generalization.</a:t>
            </a:r>
          </a:p>
        </p:txBody>
      </p:sp>
      <p:sp>
        <p:nvSpPr>
          <p:cNvPr id="9" name="TextBox 9"/>
          <p:cNvSpPr txBox="1"/>
          <p:nvPr/>
        </p:nvSpPr>
        <p:spPr>
          <a:xfrm>
            <a:off x="523591" y="4845313"/>
            <a:ext cx="8620409" cy="1797050"/>
          </a:xfrm>
          <a:prstGeom prst="rect">
            <a:avLst/>
          </a:prstGeom>
        </p:spPr>
        <p:txBody>
          <a:bodyPr lIns="0" tIns="0" rIns="0" bIns="0" rtlCol="0" anchor="t">
            <a:spAutoFit/>
          </a:bodyPr>
          <a:lstStyle/>
          <a:p>
            <a:pPr algn="l">
              <a:lnSpc>
                <a:spcPts val="2800"/>
              </a:lnSpc>
              <a:spcBef>
                <a:spcPct val="0"/>
              </a:spcBef>
            </a:pPr>
            <a:r>
              <a:rPr lang="en-US" sz="2000" b="1">
                <a:solidFill>
                  <a:srgbClr val="FFFFFF"/>
                </a:solidFill>
                <a:latin typeface="Codec Pro Bold"/>
                <a:ea typeface="Codec Pro Bold"/>
                <a:cs typeface="Codec Pro Bold"/>
                <a:sym typeface="Codec Pro Bold"/>
              </a:rPr>
              <a:t>1. The CNN consists of three convolutional blocks, each composed of:</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A Conv2D layer with 3×3 kernel and ReLU activation</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Batch Normalization to stabilize and accelerate training</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MaxPooling2D to reduce spatial dimensions and highlight dominant features</a:t>
            </a:r>
          </a:p>
        </p:txBody>
      </p:sp>
      <p:sp>
        <p:nvSpPr>
          <p:cNvPr id="10" name="TextBox 10"/>
          <p:cNvSpPr txBox="1"/>
          <p:nvPr/>
        </p:nvSpPr>
        <p:spPr>
          <a:xfrm>
            <a:off x="9801147" y="3704851"/>
            <a:ext cx="8231682" cy="3911600"/>
          </a:xfrm>
          <a:prstGeom prst="rect">
            <a:avLst/>
          </a:prstGeom>
        </p:spPr>
        <p:txBody>
          <a:bodyPr lIns="0" tIns="0" rIns="0" bIns="0" rtlCol="0" anchor="t">
            <a:spAutoFit/>
          </a:bodyPr>
          <a:lstStyle/>
          <a:p>
            <a:pPr algn="l">
              <a:lnSpc>
                <a:spcPts val="2800"/>
              </a:lnSpc>
            </a:pPr>
            <a:r>
              <a:rPr lang="en-US" sz="2000" b="1">
                <a:solidFill>
                  <a:srgbClr val="FFFFFF"/>
                </a:solidFill>
                <a:latin typeface="Codec Pro Bold"/>
                <a:ea typeface="Codec Pro Bold"/>
                <a:cs typeface="Codec Pro Bold"/>
                <a:sym typeface="Codec Pro Bold"/>
              </a:rPr>
              <a:t>3. Training Strategy</a:t>
            </a:r>
          </a:p>
          <a:p>
            <a:pPr algn="l">
              <a:lnSpc>
                <a:spcPts val="2800"/>
              </a:lnSpc>
            </a:pPr>
            <a:r>
              <a:rPr lang="en-US" sz="2000" b="1">
                <a:solidFill>
                  <a:srgbClr val="FFFFFF"/>
                </a:solidFill>
                <a:latin typeface="Codec Pro Bold"/>
                <a:ea typeface="Codec Pro Bold"/>
                <a:cs typeface="Codec Pro Bold"/>
                <a:sym typeface="Codec Pro Bold"/>
              </a:rPr>
              <a:t>The model is trained on the augmented training set and validated on a separate validation set. Training history is visualized through accuracy and loss curves.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Input Shape: (32, 32, 3) RGB images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Loss: Categorical Cross-Entropy</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Optimizer: Adam</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Batch Size: 32</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Epochs: 20</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Data Augmentation: (ImageDataGenerator) Rotation, Width and height shifts, Zooming, Fillmode</a:t>
            </a:r>
          </a:p>
        </p:txBody>
      </p:sp>
      <p:sp>
        <p:nvSpPr>
          <p:cNvPr id="11" name="TextBox 11"/>
          <p:cNvSpPr txBox="1"/>
          <p:nvPr/>
        </p:nvSpPr>
        <p:spPr>
          <a:xfrm>
            <a:off x="572335" y="7385991"/>
            <a:ext cx="8780353" cy="1797050"/>
          </a:xfrm>
          <a:prstGeom prst="rect">
            <a:avLst/>
          </a:prstGeom>
        </p:spPr>
        <p:txBody>
          <a:bodyPr lIns="0" tIns="0" rIns="0" bIns="0" rtlCol="0" anchor="t">
            <a:spAutoFit/>
          </a:bodyPr>
          <a:lstStyle/>
          <a:p>
            <a:pPr algn="l">
              <a:lnSpc>
                <a:spcPts val="2800"/>
              </a:lnSpc>
              <a:spcBef>
                <a:spcPct val="0"/>
              </a:spcBef>
            </a:pPr>
            <a:r>
              <a:rPr lang="en-US" sz="2000" b="1">
                <a:solidFill>
                  <a:srgbClr val="FFFFFF"/>
                </a:solidFill>
                <a:latin typeface="Codec Pro Bold"/>
                <a:ea typeface="Codec Pro Bold"/>
                <a:cs typeface="Codec Pro Bold"/>
                <a:sym typeface="Codec Pro Bold"/>
              </a:rPr>
              <a:t>2. The network is flattened and passed through a fully connected layer:</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Dense(256, ReLU) to learn complex feature relations</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Dropout(0.5) is applied to prevent overfitting</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Output layer: Dense(num_classes, softmax) for multi-class classification</a:t>
            </a:r>
          </a:p>
        </p:txBody>
      </p:sp>
      <p:sp>
        <p:nvSpPr>
          <p:cNvPr id="12" name="TextBox 12"/>
          <p:cNvSpPr txBox="1"/>
          <p:nvPr/>
        </p:nvSpPr>
        <p:spPr>
          <a:xfrm>
            <a:off x="523591" y="3685801"/>
            <a:ext cx="4184650" cy="520600"/>
          </a:xfrm>
          <a:prstGeom prst="rect">
            <a:avLst/>
          </a:prstGeom>
        </p:spPr>
        <p:txBody>
          <a:bodyPr lIns="0" tIns="0" rIns="0" bIns="0" rtlCol="0" anchor="t">
            <a:spAutoFit/>
          </a:bodyPr>
          <a:lstStyle/>
          <a:p>
            <a:pPr algn="ctr">
              <a:lnSpc>
                <a:spcPts val="3855"/>
              </a:lnSpc>
              <a:spcBef>
                <a:spcPct val="0"/>
              </a:spcBef>
            </a:pPr>
            <a:r>
              <a:rPr lang="en-US" sz="2753" b="1">
                <a:solidFill>
                  <a:srgbClr val="FFFFFF"/>
                </a:solidFill>
                <a:latin typeface="Codec Pro Bold"/>
                <a:ea typeface="Codec Pro Bold"/>
                <a:cs typeface="Codec Pro Bold"/>
                <a:sym typeface="Codec Pro Bold"/>
              </a:rPr>
              <a:t>CNN Architecture Details</a:t>
            </a:r>
          </a:p>
        </p:txBody>
      </p:sp>
      <p:sp>
        <p:nvSpPr>
          <p:cNvPr id="13" name="TextBox 13"/>
          <p:cNvSpPr txBox="1"/>
          <p:nvPr/>
        </p:nvSpPr>
        <p:spPr>
          <a:xfrm>
            <a:off x="9988468" y="8065441"/>
            <a:ext cx="8231682" cy="1797050"/>
          </a:xfrm>
          <a:prstGeom prst="rect">
            <a:avLst/>
          </a:prstGeom>
        </p:spPr>
        <p:txBody>
          <a:bodyPr lIns="0" tIns="0" rIns="0" bIns="0" rtlCol="0" anchor="t">
            <a:spAutoFit/>
          </a:bodyPr>
          <a:lstStyle/>
          <a:p>
            <a:pPr algn="l">
              <a:lnSpc>
                <a:spcPts val="2800"/>
              </a:lnSpc>
            </a:pPr>
            <a:r>
              <a:rPr lang="en-US" sz="2000" b="1">
                <a:solidFill>
                  <a:srgbClr val="FFFFFF"/>
                </a:solidFill>
                <a:latin typeface="Codec Pro Bold"/>
                <a:ea typeface="Codec Pro Bold"/>
                <a:cs typeface="Codec Pro Bold"/>
                <a:sym typeface="Codec Pro Bold"/>
              </a:rPr>
              <a:t>4. Evaluation</a:t>
            </a:r>
          </a:p>
          <a:p>
            <a:pPr algn="l">
              <a:lnSpc>
                <a:spcPts val="2800"/>
              </a:lnSpc>
            </a:pPr>
            <a:r>
              <a:rPr lang="en-US" sz="2000" b="1">
                <a:solidFill>
                  <a:srgbClr val="FFFFFF"/>
                </a:solidFill>
                <a:latin typeface="Codec Pro Bold"/>
                <a:ea typeface="Codec Pro Bold"/>
                <a:cs typeface="Codec Pro Bold"/>
                <a:sym typeface="Codec Pro Bold"/>
              </a:rPr>
              <a:t>The model is evaluated on the test set after training, achieving a final test accuracy of approximately 93.17%, indicating strong generalization to unseen data and confirming the effectiveness of the architecture and training strategy.</a:t>
            </a:r>
          </a:p>
        </p:txBody>
      </p:sp>
      <p:pic>
        <p:nvPicPr>
          <p:cNvPr id="14" name="Picture 1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rcRect l="22208" r="21164"/>
          <a:stretch>
            <a:fillRect/>
          </a:stretch>
        </p:blipFill>
        <p:spPr>
          <a:xfrm>
            <a:off x="14369680" y="136012"/>
            <a:ext cx="3679048" cy="3654564"/>
          </a:xfrm>
          <a:prstGeom prst="rect">
            <a:avLst/>
          </a:prstGeom>
        </p:spPr>
      </p:pic>
    </p:spTree>
  </p:cSld>
  <p:clrMapOvr>
    <a:masterClrMapping/>
  </p:clrMapOvr>
  <p:timing>
    <p:tnLst>
      <p:par>
        <p:cTn id="1" dur="indefinite" restart="never" nodeType="tmRoot">
          <p:childTnLst>
            <p:video>
              <p:cMediaNode vol="0">
                <p:cTn id="2" fill="hold" display="0">
                  <p:stCondLst>
                    <p:cond delay="indefinite"/>
                  </p:stCondLst>
                </p:cTn>
                <p:tgtEl>
                  <p:spTgt spid="1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23535" y="474589"/>
            <a:ext cx="15663593" cy="1058834"/>
          </a:xfrm>
          <a:prstGeom prst="rect">
            <a:avLst/>
          </a:prstGeom>
        </p:spPr>
        <p:txBody>
          <a:bodyPr lIns="0" tIns="0" rIns="0" bIns="0" rtlCol="0" anchor="t">
            <a:spAutoFit/>
          </a:bodyPr>
          <a:lstStyle/>
          <a:p>
            <a:pPr algn="l">
              <a:lnSpc>
                <a:spcPts val="8042"/>
              </a:lnSpc>
            </a:pPr>
            <a:r>
              <a:rPr lang="en-US" sz="7587">
                <a:solidFill>
                  <a:srgbClr val="FFFFFF"/>
                </a:solidFill>
                <a:latin typeface="Anton"/>
                <a:ea typeface="Anton"/>
                <a:cs typeface="Anton"/>
                <a:sym typeface="Anton"/>
              </a:rPr>
              <a:t>MODEL RESULTS</a:t>
            </a:r>
          </a:p>
        </p:txBody>
      </p:sp>
      <p:sp>
        <p:nvSpPr>
          <p:cNvPr id="3" name="TextBox 3"/>
          <p:cNvSpPr txBox="1"/>
          <p:nvPr/>
        </p:nvSpPr>
        <p:spPr>
          <a:xfrm>
            <a:off x="429875" y="1685823"/>
            <a:ext cx="16747389" cy="1477010"/>
          </a:xfrm>
          <a:prstGeom prst="rect">
            <a:avLst/>
          </a:prstGeom>
        </p:spPr>
        <p:txBody>
          <a:bodyPr lIns="0" tIns="0" rIns="0" bIns="0" rtlCol="0" anchor="t">
            <a:spAutoFit/>
          </a:bodyPr>
          <a:lstStyle/>
          <a:p>
            <a:pPr algn="l">
              <a:lnSpc>
                <a:spcPts val="3079"/>
              </a:lnSpc>
            </a:pPr>
            <a:r>
              <a:rPr lang="en-US" sz="2199" b="1">
                <a:solidFill>
                  <a:srgbClr val="FFFFFF"/>
                </a:solidFill>
                <a:latin typeface="Codec Pro Bold"/>
                <a:ea typeface="Codec Pro Bold"/>
                <a:cs typeface="Codec Pro Bold"/>
                <a:sym typeface="Codec Pro Bold"/>
              </a:rPr>
              <a:t>📈 Accuracy Performance:</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Training accuracy improves consistently, from below 40% to over 90% after 10 epochs, showing effective learning.</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Validation accuracy quickly reaches ~99% and stays stable, indicating strong generalization.</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Test accuracy settles at 93.17%, confirming reliable performance on unseen data.</a:t>
            </a:r>
          </a:p>
        </p:txBody>
      </p:sp>
      <p:sp>
        <p:nvSpPr>
          <p:cNvPr id="4" name="TextBox 4"/>
          <p:cNvSpPr txBox="1"/>
          <p:nvPr/>
        </p:nvSpPr>
        <p:spPr>
          <a:xfrm>
            <a:off x="429875" y="3316029"/>
            <a:ext cx="17115632" cy="1124585"/>
          </a:xfrm>
          <a:prstGeom prst="rect">
            <a:avLst/>
          </a:prstGeom>
        </p:spPr>
        <p:txBody>
          <a:bodyPr lIns="0" tIns="0" rIns="0" bIns="0" rtlCol="0" anchor="t">
            <a:spAutoFit/>
          </a:bodyPr>
          <a:lstStyle/>
          <a:p>
            <a:pPr algn="l">
              <a:lnSpc>
                <a:spcPts val="3079"/>
              </a:lnSpc>
            </a:pPr>
            <a:r>
              <a:rPr lang="en-US" sz="2199" b="1">
                <a:solidFill>
                  <a:srgbClr val="FFFFFF"/>
                </a:solidFill>
                <a:latin typeface="Codec Pro Bold"/>
                <a:ea typeface="Codec Pro Bold"/>
                <a:cs typeface="Codec Pro Bold"/>
                <a:sym typeface="Codec Pro Bold"/>
              </a:rPr>
              <a:t>📉 Loss Performance:</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Both training and validation loss decline sharply in early epochs, consistent with efficient convergence.</a:t>
            </a:r>
          </a:p>
          <a:p>
            <a:pPr marL="431801" lvl="1" indent="-215900" algn="l">
              <a:lnSpc>
                <a:spcPts val="2800"/>
              </a:lnSpc>
              <a:buFont typeface="Arial"/>
              <a:buChar char="•"/>
            </a:pPr>
            <a:r>
              <a:rPr lang="en-US" sz="2000">
                <a:solidFill>
                  <a:srgbClr val="FFFFFF"/>
                </a:solidFill>
                <a:latin typeface="Codec Pro"/>
                <a:ea typeface="Codec Pro"/>
                <a:cs typeface="Codec Pro"/>
                <a:sym typeface="Codec Pro"/>
              </a:rPr>
              <a:t>Validation loss reaches a minimum of 0.024, while test loss remains low at 0.31, with no indication of overfitting throughout training.</a:t>
            </a:r>
          </a:p>
        </p:txBody>
      </p:sp>
      <p:sp>
        <p:nvSpPr>
          <p:cNvPr id="5" name="TextBox 5"/>
          <p:cNvSpPr txBox="1"/>
          <p:nvPr/>
        </p:nvSpPr>
        <p:spPr>
          <a:xfrm>
            <a:off x="429875" y="4740385"/>
            <a:ext cx="4861663" cy="3559175"/>
          </a:xfrm>
          <a:prstGeom prst="rect">
            <a:avLst/>
          </a:prstGeom>
        </p:spPr>
        <p:txBody>
          <a:bodyPr lIns="0" tIns="0" rIns="0" bIns="0" rtlCol="0" anchor="t">
            <a:spAutoFit/>
          </a:bodyPr>
          <a:lstStyle/>
          <a:p>
            <a:pPr algn="l">
              <a:lnSpc>
                <a:spcPts val="2800"/>
              </a:lnSpc>
            </a:pPr>
            <a:r>
              <a:rPr lang="en-US" sz="2000" b="1">
                <a:solidFill>
                  <a:srgbClr val="FFFFFF"/>
                </a:solidFill>
                <a:latin typeface="Codec Pro Bold"/>
                <a:ea typeface="Codec Pro Bold"/>
                <a:cs typeface="Codec Pro Bold"/>
                <a:sym typeface="Codec Pro Bold"/>
              </a:rPr>
              <a:t>⚡Overall Conclusion:</a:t>
            </a:r>
          </a:p>
          <a:p>
            <a:pPr marL="431801" lvl="1" indent="-215900" algn="l">
              <a:lnSpc>
                <a:spcPts val="2800"/>
              </a:lnSpc>
              <a:buFont typeface="Arial"/>
              <a:buChar char="•"/>
            </a:pPr>
            <a:r>
              <a:rPr lang="en-US" sz="2000" b="1">
                <a:solidFill>
                  <a:srgbClr val="FFFFFF"/>
                </a:solidFill>
                <a:latin typeface="Codec Pro Bold"/>
                <a:ea typeface="Codec Pro Bold"/>
                <a:cs typeface="Codec Pro Bold"/>
                <a:sym typeface="Codec Pro Bold"/>
              </a:rPr>
              <a:t>The model shows fast and stable convergence, achieving high accuracy and low loss across all datasets.</a:t>
            </a:r>
          </a:p>
          <a:p>
            <a:pPr algn="l">
              <a:lnSpc>
                <a:spcPts val="2800"/>
              </a:lnSpc>
            </a:pPr>
            <a:endParaRPr lang="en-US" sz="2000" b="1">
              <a:solidFill>
                <a:srgbClr val="FFFFFF"/>
              </a:solidFill>
              <a:latin typeface="Codec Pro Bold"/>
              <a:ea typeface="Codec Pro Bold"/>
              <a:cs typeface="Codec Pro Bold"/>
              <a:sym typeface="Codec Pro Bold"/>
            </a:endParaRPr>
          </a:p>
          <a:p>
            <a:pPr marL="431801" lvl="1" indent="-215900" algn="l">
              <a:lnSpc>
                <a:spcPts val="2800"/>
              </a:lnSpc>
              <a:buFont typeface="Arial"/>
              <a:buChar char="•"/>
            </a:pPr>
            <a:r>
              <a:rPr lang="en-US" sz="2000" b="1">
                <a:solidFill>
                  <a:srgbClr val="FFFFFF"/>
                </a:solidFill>
                <a:latin typeface="Codec Pro Bold"/>
                <a:ea typeface="Codec Pro Bold"/>
                <a:cs typeface="Codec Pro Bold"/>
                <a:sym typeface="Codec Pro Bold"/>
              </a:rPr>
              <a:t>The close alignment between training, validation, and test metrics suggests strong generalization and minimal overfitting.</a:t>
            </a:r>
          </a:p>
        </p:txBody>
      </p:sp>
      <p:sp>
        <p:nvSpPr>
          <p:cNvPr id="6" name="Freeform 6"/>
          <p:cNvSpPr/>
          <p:nvPr/>
        </p:nvSpPr>
        <p:spPr>
          <a:xfrm>
            <a:off x="5643076" y="4826110"/>
            <a:ext cx="12239062" cy="5041107"/>
          </a:xfrm>
          <a:custGeom>
            <a:avLst/>
            <a:gdLst/>
            <a:ahLst/>
            <a:cxnLst/>
            <a:rect l="l" t="t" r="r" b="b"/>
            <a:pathLst>
              <a:path w="12239062" h="5041107">
                <a:moveTo>
                  <a:pt x="0" y="0"/>
                </a:moveTo>
                <a:lnTo>
                  <a:pt x="12239062" y="0"/>
                </a:lnTo>
                <a:lnTo>
                  <a:pt x="12239062" y="5041107"/>
                </a:lnTo>
                <a:lnTo>
                  <a:pt x="0" y="5041107"/>
                </a:lnTo>
                <a:lnTo>
                  <a:pt x="0" y="0"/>
                </a:lnTo>
                <a:close/>
              </a:path>
            </a:pathLst>
          </a:custGeom>
          <a:blipFill>
            <a:blip r:embed="rId2"/>
            <a:stretch>
              <a:fillRect t="-9131" b="-425"/>
            </a:stretch>
          </a:blipFill>
        </p:spPr>
        <p:txBody>
          <a:bodyPr/>
          <a:lstStyle/>
          <a:p>
            <a:endParaRPr lang="en-C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537210"/>
            <a:ext cx="18288000" cy="9212580"/>
          </a:xfrm>
          <a:custGeom>
            <a:avLst/>
            <a:gdLst/>
            <a:ahLst/>
            <a:cxnLst/>
            <a:rect l="l" t="t" r="r" b="b"/>
            <a:pathLst>
              <a:path w="18288000" h="9212580">
                <a:moveTo>
                  <a:pt x="0" y="0"/>
                </a:moveTo>
                <a:lnTo>
                  <a:pt x="18288000" y="0"/>
                </a:lnTo>
                <a:lnTo>
                  <a:pt x="18288000" y="9212580"/>
                </a:lnTo>
                <a:lnTo>
                  <a:pt x="0" y="9212580"/>
                </a:lnTo>
                <a:lnTo>
                  <a:pt x="0" y="0"/>
                </a:lnTo>
                <a:close/>
              </a:path>
            </a:pathLst>
          </a:custGeom>
          <a:blipFill>
            <a:blip r:embed="rId2"/>
            <a:stretch>
              <a:fillRect/>
            </a:stretch>
          </a:blipFill>
        </p:spPr>
        <p:txBody>
          <a:bodyPr/>
          <a:lstStyle/>
          <a:p>
            <a:endParaRPr lang="en-C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182880"/>
            <a:ext cx="18288000" cy="9921240"/>
          </a:xfrm>
          <a:custGeom>
            <a:avLst/>
            <a:gdLst/>
            <a:ahLst/>
            <a:cxnLst/>
            <a:rect l="l" t="t" r="r" b="b"/>
            <a:pathLst>
              <a:path w="18288000" h="9921240">
                <a:moveTo>
                  <a:pt x="0" y="0"/>
                </a:moveTo>
                <a:lnTo>
                  <a:pt x="18288000" y="0"/>
                </a:lnTo>
                <a:lnTo>
                  <a:pt x="18288000" y="9921240"/>
                </a:lnTo>
                <a:lnTo>
                  <a:pt x="0" y="9921240"/>
                </a:lnTo>
                <a:lnTo>
                  <a:pt x="0" y="0"/>
                </a:lnTo>
                <a:close/>
              </a:path>
            </a:pathLst>
          </a:custGeom>
          <a:blipFill>
            <a:blip r:embed="rId2"/>
            <a:stretch>
              <a:fillRect/>
            </a:stretch>
          </a:blipFill>
        </p:spPr>
        <p:txBody>
          <a:bodyPr/>
          <a:lstStyle/>
          <a:p>
            <a:endParaRPr lang="en-C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5910" y="454384"/>
            <a:ext cx="18069774" cy="9125236"/>
            <a:chOff x="0" y="0"/>
            <a:chExt cx="24093033" cy="12166981"/>
          </a:xfrm>
        </p:grpSpPr>
        <p:sp>
          <p:nvSpPr>
            <p:cNvPr id="3" name="Freeform 3"/>
            <p:cNvSpPr/>
            <p:nvPr/>
          </p:nvSpPr>
          <p:spPr>
            <a:xfrm>
              <a:off x="0" y="0"/>
              <a:ext cx="24093033" cy="12166981"/>
            </a:xfrm>
            <a:custGeom>
              <a:avLst/>
              <a:gdLst/>
              <a:ahLst/>
              <a:cxnLst/>
              <a:rect l="l" t="t" r="r" b="b"/>
              <a:pathLst>
                <a:path w="24093033" h="12166981">
                  <a:moveTo>
                    <a:pt x="0" y="0"/>
                  </a:moveTo>
                  <a:lnTo>
                    <a:pt x="24093033" y="0"/>
                  </a:lnTo>
                  <a:lnTo>
                    <a:pt x="24093033" y="12166981"/>
                  </a:lnTo>
                  <a:lnTo>
                    <a:pt x="0" y="12166981"/>
                  </a:lnTo>
                  <a:lnTo>
                    <a:pt x="0" y="0"/>
                  </a:lnTo>
                  <a:close/>
                </a:path>
              </a:pathLst>
            </a:custGeom>
            <a:blipFill>
              <a:blip r:embed="rId2"/>
              <a:stretch>
                <a:fillRect/>
              </a:stretch>
            </a:blipFill>
          </p:spPr>
          <p:txBody>
            <a:bodyPr/>
            <a:lstStyle/>
            <a:p>
              <a:endParaRPr lang="en-CA"/>
            </a:p>
          </p:txBody>
        </p:sp>
        <p:sp>
          <p:nvSpPr>
            <p:cNvPr id="4" name="Freeform 4"/>
            <p:cNvSpPr/>
            <p:nvPr/>
          </p:nvSpPr>
          <p:spPr>
            <a:xfrm>
              <a:off x="0" y="1839034"/>
              <a:ext cx="24093033" cy="10209423"/>
            </a:xfrm>
            <a:custGeom>
              <a:avLst/>
              <a:gdLst/>
              <a:ahLst/>
              <a:cxnLst/>
              <a:rect l="l" t="t" r="r" b="b"/>
              <a:pathLst>
                <a:path w="24093033" h="10209423">
                  <a:moveTo>
                    <a:pt x="0" y="0"/>
                  </a:moveTo>
                  <a:lnTo>
                    <a:pt x="24093033" y="0"/>
                  </a:lnTo>
                  <a:lnTo>
                    <a:pt x="24093033" y="10209422"/>
                  </a:lnTo>
                  <a:lnTo>
                    <a:pt x="0" y="10209422"/>
                  </a:lnTo>
                  <a:lnTo>
                    <a:pt x="0" y="0"/>
                  </a:lnTo>
                  <a:close/>
                </a:path>
              </a:pathLst>
            </a:custGeom>
            <a:blipFill>
              <a:blip r:embed="rId3"/>
              <a:stretch>
                <a:fillRect/>
              </a:stretch>
            </a:blipFill>
          </p:spPr>
          <p:txBody>
            <a:bodyPr/>
            <a:lstStyle/>
            <a:p>
              <a:endParaRPr lang="en-CA"/>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11430"/>
            <a:ext cx="18288000" cy="10264140"/>
          </a:xfrm>
          <a:custGeom>
            <a:avLst/>
            <a:gdLst/>
            <a:ahLst/>
            <a:cxnLst/>
            <a:rect l="l" t="t" r="r" b="b"/>
            <a:pathLst>
              <a:path w="18288000" h="10264140">
                <a:moveTo>
                  <a:pt x="0" y="0"/>
                </a:moveTo>
                <a:lnTo>
                  <a:pt x="18288000" y="0"/>
                </a:lnTo>
                <a:lnTo>
                  <a:pt x="18288000" y="10264140"/>
                </a:lnTo>
                <a:lnTo>
                  <a:pt x="0" y="10264140"/>
                </a:lnTo>
                <a:lnTo>
                  <a:pt x="0" y="0"/>
                </a:lnTo>
                <a:close/>
              </a:path>
            </a:pathLst>
          </a:custGeom>
          <a:blipFill>
            <a:blip r:embed="rId2"/>
            <a:stretch>
              <a:fillRect/>
            </a:stretch>
          </a:blipFill>
        </p:spPr>
        <p:txBody>
          <a:bodyPr/>
          <a:lstStyle/>
          <a:p>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en-CA"/>
          </a:p>
        </p:txBody>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5" name="TextBox 5"/>
          <p:cNvSpPr txBox="1"/>
          <p:nvPr/>
        </p:nvSpPr>
        <p:spPr>
          <a:xfrm>
            <a:off x="627333" y="1875379"/>
            <a:ext cx="6466565" cy="7382921"/>
          </a:xfrm>
          <a:prstGeom prst="rect">
            <a:avLst/>
          </a:prstGeom>
        </p:spPr>
        <p:txBody>
          <a:bodyPr lIns="0" tIns="0" rIns="0" bIns="0" rtlCol="0" anchor="t">
            <a:spAutoFit/>
          </a:bodyPr>
          <a:lstStyle/>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Dataset Summary</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Total Classes: 43</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Class Imbalance Observed</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(Min: 210 images, Max: 2250 images)</a:t>
            </a:r>
          </a:p>
          <a:p>
            <a:pPr marL="557843" lvl="1" indent="-278921" algn="l">
              <a:lnSpc>
                <a:spcPts val="3617"/>
              </a:lnSpc>
              <a:buFont typeface="Arial"/>
              <a:buChar char="•"/>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Preprocessing Steps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Split dataset → Train / Validation / Test</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Convert annotations to YOLO format</a:t>
            </a:r>
          </a:p>
          <a:p>
            <a:pPr marL="557843" lvl="1" indent="-278921" algn="l">
              <a:lnSpc>
                <a:spcPts val="3617"/>
              </a:lnSpc>
              <a:buFont typeface="Arial"/>
              <a:buChar char="•"/>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Balancing Strategy</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Removed classes with &lt; 500 images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Capped each remaining class to 500 samples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Final dataset: 25 balanced classes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Balanced dataset ensures model fairness and reduces class bias.</a:t>
            </a:r>
          </a:p>
          <a:p>
            <a:pPr algn="ctr">
              <a:lnSpc>
                <a:spcPts val="3617"/>
              </a:lnSpc>
              <a:spcBef>
                <a:spcPct val="0"/>
              </a:spcBef>
            </a:pPr>
            <a:endParaRPr lang="en-US" sz="2383">
              <a:solidFill>
                <a:srgbClr val="FFFFFF"/>
              </a:solidFill>
              <a:latin typeface="Codec Pro"/>
              <a:ea typeface="Codec Pro"/>
              <a:cs typeface="Codec Pro"/>
              <a:sym typeface="Codec Pro"/>
            </a:endParaRPr>
          </a:p>
        </p:txBody>
      </p:sp>
      <p:sp>
        <p:nvSpPr>
          <p:cNvPr id="6" name="Freeform 6"/>
          <p:cNvSpPr/>
          <p:nvPr/>
        </p:nvSpPr>
        <p:spPr>
          <a:xfrm>
            <a:off x="6986741" y="5568724"/>
            <a:ext cx="11301259" cy="4718276"/>
          </a:xfrm>
          <a:custGeom>
            <a:avLst/>
            <a:gdLst/>
            <a:ahLst/>
            <a:cxnLst/>
            <a:rect l="l" t="t" r="r" b="b"/>
            <a:pathLst>
              <a:path w="11301259" h="4718276">
                <a:moveTo>
                  <a:pt x="0" y="0"/>
                </a:moveTo>
                <a:lnTo>
                  <a:pt x="11301259" y="0"/>
                </a:lnTo>
                <a:lnTo>
                  <a:pt x="11301259" y="4718276"/>
                </a:lnTo>
                <a:lnTo>
                  <a:pt x="0" y="4718276"/>
                </a:lnTo>
                <a:lnTo>
                  <a:pt x="0" y="0"/>
                </a:lnTo>
                <a:close/>
              </a:path>
            </a:pathLst>
          </a:custGeom>
          <a:blipFill>
            <a:blip r:embed="rId6"/>
            <a:stretch>
              <a:fillRect/>
            </a:stretch>
          </a:blipFill>
        </p:spPr>
        <p:txBody>
          <a:bodyPr/>
          <a:lstStyle/>
          <a:p>
            <a:endParaRPr lang="en-CA"/>
          </a:p>
        </p:txBody>
      </p:sp>
      <p:sp>
        <p:nvSpPr>
          <p:cNvPr id="7" name="TextBox 7"/>
          <p:cNvSpPr txBox="1"/>
          <p:nvPr/>
        </p:nvSpPr>
        <p:spPr>
          <a:xfrm>
            <a:off x="-199006" y="665859"/>
            <a:ext cx="16637325" cy="775625"/>
          </a:xfrm>
          <a:prstGeom prst="rect">
            <a:avLst/>
          </a:prstGeom>
        </p:spPr>
        <p:txBody>
          <a:bodyPr lIns="0" tIns="0" rIns="0" bIns="0" rtlCol="0" anchor="t">
            <a:spAutoFit/>
          </a:bodyPr>
          <a:lstStyle/>
          <a:p>
            <a:pPr algn="ctr">
              <a:lnSpc>
                <a:spcPts val="5922"/>
              </a:lnSpc>
            </a:pPr>
            <a:r>
              <a:rPr lang="en-US" sz="5587">
                <a:solidFill>
                  <a:srgbClr val="FFFFFF"/>
                </a:solidFill>
                <a:latin typeface="Lilita One"/>
                <a:ea typeface="Lilita One"/>
                <a:cs typeface="Lilita One"/>
                <a:sym typeface="Lilita One"/>
              </a:rPr>
              <a:t>DATASET BALANCING AND YOLO CONVERSION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en-CA"/>
          </a:p>
        </p:txBody>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10749079" y="5579327"/>
            <a:ext cx="7342511" cy="4544225"/>
          </a:xfrm>
          <a:custGeom>
            <a:avLst/>
            <a:gdLst/>
            <a:ahLst/>
            <a:cxnLst/>
            <a:rect l="l" t="t" r="r" b="b"/>
            <a:pathLst>
              <a:path w="7342511" h="4544225">
                <a:moveTo>
                  <a:pt x="0" y="0"/>
                </a:moveTo>
                <a:lnTo>
                  <a:pt x="7342510" y="0"/>
                </a:lnTo>
                <a:lnTo>
                  <a:pt x="7342510" y="4544225"/>
                </a:lnTo>
                <a:lnTo>
                  <a:pt x="0" y="4544225"/>
                </a:lnTo>
                <a:lnTo>
                  <a:pt x="0" y="0"/>
                </a:lnTo>
                <a:close/>
              </a:path>
            </a:pathLst>
          </a:custGeom>
          <a:blipFill>
            <a:blip r:embed="rId6"/>
            <a:stretch>
              <a:fillRect/>
            </a:stretch>
          </a:blipFill>
        </p:spPr>
        <p:txBody>
          <a:bodyPr/>
          <a:lstStyle/>
          <a:p>
            <a:endParaRPr lang="en-CA"/>
          </a:p>
        </p:txBody>
      </p:sp>
      <p:sp>
        <p:nvSpPr>
          <p:cNvPr id="6" name="TextBox 6"/>
          <p:cNvSpPr txBox="1"/>
          <p:nvPr/>
        </p:nvSpPr>
        <p:spPr>
          <a:xfrm>
            <a:off x="734490" y="1446750"/>
            <a:ext cx="9084262" cy="9135521"/>
          </a:xfrm>
          <a:prstGeom prst="rect">
            <a:avLst/>
          </a:prstGeom>
        </p:spPr>
        <p:txBody>
          <a:bodyPr lIns="0" tIns="0" rIns="0" bIns="0" rtlCol="0" anchor="t">
            <a:spAutoFit/>
          </a:bodyPr>
          <a:lstStyle/>
          <a:p>
            <a:pPr marL="557843" lvl="1" indent="-278921" algn="l">
              <a:lnSpc>
                <a:spcPts val="3617"/>
              </a:lnSpc>
              <a:buFont typeface="Arial"/>
              <a:buChar char="•"/>
            </a:pPr>
            <a:r>
              <a:rPr lang="en-US" sz="2583">
                <a:solidFill>
                  <a:srgbClr val="FFFFFF"/>
                </a:solidFill>
                <a:latin typeface="Codec Pro"/>
                <a:ea typeface="Codec Pro"/>
                <a:cs typeface="Codec Pro"/>
                <a:sym typeface="Codec Pro"/>
              </a:rPr>
              <a:t>✅</a:t>
            </a:r>
            <a:r>
              <a:rPr lang="en-US" sz="2583" b="1">
                <a:solidFill>
                  <a:srgbClr val="FFFFFF"/>
                </a:solidFill>
                <a:latin typeface="Codec Pro Bold"/>
                <a:ea typeface="Codec Pro Bold"/>
                <a:cs typeface="Codec Pro Bold"/>
                <a:sym typeface="Codec Pro Bold"/>
              </a:rPr>
              <a:t> YOLOv8 Architecture</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Lightweight and fast: YOLOv8n selected for limited GPU resources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Pretrained on COCO dataset, then fine-tuned on traffic sign dataset</a:t>
            </a:r>
          </a:p>
          <a:p>
            <a:pPr algn="l">
              <a:lnSpc>
                <a:spcPts val="3617"/>
              </a:lnSpc>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Customization Steps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Backbone frozen to retain learned features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Detection head replaced to match 25 traffic sign classes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Used data.yaml to automatically load class names and count</a:t>
            </a:r>
          </a:p>
          <a:p>
            <a:pPr algn="l">
              <a:lnSpc>
                <a:spcPts val="3617"/>
              </a:lnSpc>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Training Configuration</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Image size: 256 × 256</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Epochs: 15</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Batch size: 32</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Confidence threshold: 0.3</a:t>
            </a:r>
          </a:p>
          <a:p>
            <a:pPr algn="l">
              <a:lnSpc>
                <a:spcPts val="3617"/>
              </a:lnSpc>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Training Environment</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Trained on Google Colab using GPU acceleration</a:t>
            </a:r>
          </a:p>
          <a:p>
            <a:pPr algn="ctr">
              <a:lnSpc>
                <a:spcPts val="3617"/>
              </a:lnSpc>
              <a:spcBef>
                <a:spcPct val="0"/>
              </a:spcBef>
            </a:pPr>
            <a:endParaRPr lang="en-US" sz="2383">
              <a:solidFill>
                <a:srgbClr val="FFFFFF"/>
              </a:solidFill>
              <a:latin typeface="Codec Pro"/>
              <a:ea typeface="Codec Pro"/>
              <a:cs typeface="Codec Pro"/>
              <a:sym typeface="Codec Pro"/>
            </a:endParaRPr>
          </a:p>
        </p:txBody>
      </p:sp>
      <p:sp>
        <p:nvSpPr>
          <p:cNvPr id="7" name="TextBox 7"/>
          <p:cNvSpPr txBox="1"/>
          <p:nvPr/>
        </p:nvSpPr>
        <p:spPr>
          <a:xfrm>
            <a:off x="-199006" y="665859"/>
            <a:ext cx="16637325" cy="775625"/>
          </a:xfrm>
          <a:prstGeom prst="rect">
            <a:avLst/>
          </a:prstGeom>
        </p:spPr>
        <p:txBody>
          <a:bodyPr lIns="0" tIns="0" rIns="0" bIns="0" rtlCol="0" anchor="t">
            <a:spAutoFit/>
          </a:bodyPr>
          <a:lstStyle/>
          <a:p>
            <a:pPr algn="ctr">
              <a:lnSpc>
                <a:spcPts val="5922"/>
              </a:lnSpc>
            </a:pPr>
            <a:r>
              <a:rPr lang="en-US" sz="5587">
                <a:solidFill>
                  <a:srgbClr val="FFFFFF"/>
                </a:solidFill>
                <a:latin typeface="Lilita One"/>
                <a:ea typeface="Lilita One"/>
                <a:cs typeface="Lilita One"/>
                <a:sym typeface="Lilita One"/>
              </a:rPr>
              <a:t>YOLO MODEL IMPLEMENTATION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en-CA"/>
          </a:p>
        </p:txBody>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10303109" y="6062136"/>
            <a:ext cx="7984891" cy="4224864"/>
          </a:xfrm>
          <a:custGeom>
            <a:avLst/>
            <a:gdLst/>
            <a:ahLst/>
            <a:cxnLst/>
            <a:rect l="l" t="t" r="r" b="b"/>
            <a:pathLst>
              <a:path w="7984891" h="4224864">
                <a:moveTo>
                  <a:pt x="0" y="0"/>
                </a:moveTo>
                <a:lnTo>
                  <a:pt x="7984891" y="0"/>
                </a:lnTo>
                <a:lnTo>
                  <a:pt x="7984891" y="4224864"/>
                </a:lnTo>
                <a:lnTo>
                  <a:pt x="0" y="4224864"/>
                </a:lnTo>
                <a:lnTo>
                  <a:pt x="0" y="0"/>
                </a:lnTo>
                <a:close/>
              </a:path>
            </a:pathLst>
          </a:custGeom>
          <a:blipFill>
            <a:blip r:embed="rId6"/>
            <a:stretch>
              <a:fillRect/>
            </a:stretch>
          </a:blipFill>
        </p:spPr>
        <p:txBody>
          <a:bodyPr/>
          <a:lstStyle/>
          <a:p>
            <a:endParaRPr lang="en-CA"/>
          </a:p>
        </p:txBody>
      </p:sp>
      <p:sp>
        <p:nvSpPr>
          <p:cNvPr id="6" name="Freeform 6"/>
          <p:cNvSpPr/>
          <p:nvPr/>
        </p:nvSpPr>
        <p:spPr>
          <a:xfrm>
            <a:off x="10303109" y="1788804"/>
            <a:ext cx="7984891" cy="3892634"/>
          </a:xfrm>
          <a:custGeom>
            <a:avLst/>
            <a:gdLst/>
            <a:ahLst/>
            <a:cxnLst/>
            <a:rect l="l" t="t" r="r" b="b"/>
            <a:pathLst>
              <a:path w="7984891" h="3892634">
                <a:moveTo>
                  <a:pt x="0" y="0"/>
                </a:moveTo>
                <a:lnTo>
                  <a:pt x="7984891" y="0"/>
                </a:lnTo>
                <a:lnTo>
                  <a:pt x="7984891" y="3892634"/>
                </a:lnTo>
                <a:lnTo>
                  <a:pt x="0" y="3892634"/>
                </a:lnTo>
                <a:lnTo>
                  <a:pt x="0" y="0"/>
                </a:lnTo>
                <a:close/>
              </a:path>
            </a:pathLst>
          </a:custGeom>
          <a:blipFill>
            <a:blip r:embed="rId7"/>
            <a:stretch>
              <a:fillRect/>
            </a:stretch>
          </a:blipFill>
        </p:spPr>
        <p:txBody>
          <a:bodyPr/>
          <a:lstStyle/>
          <a:p>
            <a:endParaRPr lang="en-CA"/>
          </a:p>
        </p:txBody>
      </p:sp>
      <p:sp>
        <p:nvSpPr>
          <p:cNvPr id="7" name="TextBox 7"/>
          <p:cNvSpPr txBox="1"/>
          <p:nvPr/>
        </p:nvSpPr>
        <p:spPr>
          <a:xfrm>
            <a:off x="621975" y="1925544"/>
            <a:ext cx="7796682" cy="7763921"/>
          </a:xfrm>
          <a:prstGeom prst="rect">
            <a:avLst/>
          </a:prstGeom>
        </p:spPr>
        <p:txBody>
          <a:bodyPr lIns="0" tIns="0" rIns="0" bIns="0" rtlCol="0" anchor="t">
            <a:spAutoFit/>
          </a:bodyPr>
          <a:lstStyle/>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Training and Validation Loss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The model shows a consistent decrease in both box and classification losses over 15 epochs.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Indicates effective learning and reduction in prediction error as training progresses.</a:t>
            </a:r>
          </a:p>
          <a:p>
            <a:pPr algn="l">
              <a:lnSpc>
                <a:spcPts val="3617"/>
              </a:lnSpc>
            </a:pPr>
            <a:endParaRPr lang="en-US" sz="2383">
              <a:solidFill>
                <a:srgbClr val="FFFFFF"/>
              </a:solidFill>
              <a:latin typeface="Codec Pro"/>
              <a:ea typeface="Codec Pro"/>
              <a:cs typeface="Codec Pro"/>
              <a:sym typeface="Codec Pro"/>
            </a:endParaRPr>
          </a:p>
          <a:p>
            <a:pPr marL="557843" lvl="1" indent="-278921" algn="l">
              <a:lnSpc>
                <a:spcPts val="3617"/>
              </a:lnSpc>
              <a:buFont typeface="Arial"/>
              <a:buChar char="•"/>
            </a:pPr>
            <a:r>
              <a:rPr lang="en-US" sz="2583">
                <a:solidFill>
                  <a:srgbClr val="FFFFFF"/>
                </a:solidFill>
                <a:latin typeface="Codec Pro"/>
                <a:ea typeface="Codec Pro"/>
                <a:cs typeface="Codec Pro"/>
                <a:sym typeface="Codec Pro"/>
              </a:rPr>
              <a:t>✅ </a:t>
            </a:r>
            <a:r>
              <a:rPr lang="en-US" sz="2583" b="1">
                <a:solidFill>
                  <a:srgbClr val="FFFFFF"/>
                </a:solidFill>
                <a:latin typeface="Codec Pro Bold"/>
                <a:ea typeface="Codec Pro Bold"/>
                <a:cs typeface="Codec Pro Bold"/>
                <a:sym typeface="Codec Pro Bold"/>
              </a:rPr>
              <a:t>Evaluation Metrics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High Precision and Recall (both approaching 1.0) show strong model performance on validation data.</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mAP50 and mAP50-95 metrics steadily improve, reaching above 0.95, indicating good localization and classification performance.</a:t>
            </a:r>
          </a:p>
          <a:p>
            <a:pPr algn="l">
              <a:lnSpc>
                <a:spcPts val="3617"/>
              </a:lnSpc>
            </a:pPr>
            <a:endParaRPr lang="en-US" sz="2383">
              <a:solidFill>
                <a:srgbClr val="FFFFFF"/>
              </a:solidFill>
              <a:latin typeface="Codec Pro"/>
              <a:ea typeface="Codec Pro"/>
              <a:cs typeface="Codec Pro"/>
              <a:sym typeface="Codec Pro"/>
            </a:endParaRP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Overall, the model is well-generalized, showing no significant overfitting and achieving strong accuracy across all metrics.</a:t>
            </a:r>
          </a:p>
          <a:p>
            <a:pPr algn="ctr">
              <a:lnSpc>
                <a:spcPts val="3617"/>
              </a:lnSpc>
              <a:spcBef>
                <a:spcPct val="0"/>
              </a:spcBef>
            </a:pPr>
            <a:endParaRPr lang="en-US" sz="2383">
              <a:solidFill>
                <a:srgbClr val="FFFFFF"/>
              </a:solidFill>
              <a:latin typeface="Codec Pro"/>
              <a:ea typeface="Codec Pro"/>
              <a:cs typeface="Codec Pro"/>
              <a:sym typeface="Codec Pro"/>
            </a:endParaRPr>
          </a:p>
        </p:txBody>
      </p:sp>
      <p:sp>
        <p:nvSpPr>
          <p:cNvPr id="8" name="TextBox 8"/>
          <p:cNvSpPr txBox="1"/>
          <p:nvPr/>
        </p:nvSpPr>
        <p:spPr>
          <a:xfrm>
            <a:off x="621975" y="394689"/>
            <a:ext cx="16637325" cy="775625"/>
          </a:xfrm>
          <a:prstGeom prst="rect">
            <a:avLst/>
          </a:prstGeom>
        </p:spPr>
        <p:txBody>
          <a:bodyPr lIns="0" tIns="0" rIns="0" bIns="0" rtlCol="0" anchor="t">
            <a:spAutoFit/>
          </a:bodyPr>
          <a:lstStyle/>
          <a:p>
            <a:pPr algn="ctr">
              <a:lnSpc>
                <a:spcPts val="5922"/>
              </a:lnSpc>
            </a:pPr>
            <a:r>
              <a:rPr lang="en-US" sz="5587">
                <a:solidFill>
                  <a:srgbClr val="FFFFFF"/>
                </a:solidFill>
                <a:latin typeface="Lilita One"/>
                <a:ea typeface="Lilita One"/>
                <a:cs typeface="Lilita One"/>
                <a:sym typeface="Lilita One"/>
              </a:rPr>
              <a:t>TRAINING PERFORMANCE &amp; EVALUATION METRICS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en-CA"/>
          </a:p>
        </p:txBody>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a:off x="11394071" y="6842867"/>
            <a:ext cx="6756156" cy="3282472"/>
          </a:xfrm>
          <a:custGeom>
            <a:avLst/>
            <a:gdLst/>
            <a:ahLst/>
            <a:cxnLst/>
            <a:rect l="l" t="t" r="r" b="b"/>
            <a:pathLst>
              <a:path w="6756156" h="3282472">
                <a:moveTo>
                  <a:pt x="0" y="0"/>
                </a:moveTo>
                <a:lnTo>
                  <a:pt x="6756155" y="0"/>
                </a:lnTo>
                <a:lnTo>
                  <a:pt x="6756155" y="3282472"/>
                </a:lnTo>
                <a:lnTo>
                  <a:pt x="0" y="3282472"/>
                </a:lnTo>
                <a:lnTo>
                  <a:pt x="0" y="0"/>
                </a:lnTo>
                <a:close/>
              </a:path>
            </a:pathLst>
          </a:custGeom>
          <a:blipFill>
            <a:blip r:embed="rId6"/>
            <a:stretch>
              <a:fillRect/>
            </a:stretch>
          </a:blipFill>
        </p:spPr>
        <p:txBody>
          <a:bodyPr/>
          <a:lstStyle/>
          <a:p>
            <a:endParaRPr lang="en-CA"/>
          </a:p>
        </p:txBody>
      </p:sp>
      <p:sp>
        <p:nvSpPr>
          <p:cNvPr id="6" name="Freeform 6"/>
          <p:cNvSpPr/>
          <p:nvPr/>
        </p:nvSpPr>
        <p:spPr>
          <a:xfrm>
            <a:off x="13400906" y="1788804"/>
            <a:ext cx="4749320" cy="4829426"/>
          </a:xfrm>
          <a:custGeom>
            <a:avLst/>
            <a:gdLst/>
            <a:ahLst/>
            <a:cxnLst/>
            <a:rect l="l" t="t" r="r" b="b"/>
            <a:pathLst>
              <a:path w="4749320" h="4829426">
                <a:moveTo>
                  <a:pt x="0" y="0"/>
                </a:moveTo>
                <a:lnTo>
                  <a:pt x="4749320" y="0"/>
                </a:lnTo>
                <a:lnTo>
                  <a:pt x="4749320" y="4829426"/>
                </a:lnTo>
                <a:lnTo>
                  <a:pt x="0" y="4829426"/>
                </a:lnTo>
                <a:lnTo>
                  <a:pt x="0" y="0"/>
                </a:lnTo>
                <a:close/>
              </a:path>
            </a:pathLst>
          </a:custGeom>
          <a:blipFill>
            <a:blip r:embed="rId7"/>
            <a:stretch>
              <a:fillRect l="-3971"/>
            </a:stretch>
          </a:blipFill>
        </p:spPr>
        <p:txBody>
          <a:bodyPr/>
          <a:lstStyle/>
          <a:p>
            <a:endParaRPr lang="en-CA"/>
          </a:p>
        </p:txBody>
      </p:sp>
      <p:sp>
        <p:nvSpPr>
          <p:cNvPr id="7" name="TextBox 7"/>
          <p:cNvSpPr txBox="1"/>
          <p:nvPr/>
        </p:nvSpPr>
        <p:spPr>
          <a:xfrm>
            <a:off x="924537" y="1171545"/>
            <a:ext cx="9818760" cy="9839101"/>
          </a:xfrm>
          <a:prstGeom prst="rect">
            <a:avLst/>
          </a:prstGeom>
        </p:spPr>
        <p:txBody>
          <a:bodyPr lIns="0" tIns="0" rIns="0" bIns="0" rtlCol="0" anchor="t">
            <a:spAutoFit/>
          </a:bodyPr>
          <a:lstStyle/>
          <a:p>
            <a:pPr algn="l">
              <a:lnSpc>
                <a:spcPts val="3757"/>
              </a:lnSpc>
            </a:pPr>
            <a:r>
              <a:rPr lang="en-US" sz="2683" b="1">
                <a:solidFill>
                  <a:srgbClr val="FFFFFF"/>
                </a:solidFill>
                <a:latin typeface="Codec Pro Bold"/>
                <a:ea typeface="Codec Pro Bold"/>
                <a:cs typeface="Codec Pro Bold"/>
                <a:sym typeface="Codec Pro Bold"/>
              </a:rPr>
              <a:t> Image Predictions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Model performs well on static images from the test set.</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Achieves high confidence scores and accurate bounding boxes.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Sample predictions include clear detection of signs like:</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“Speed limit 30” → 0.95</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“No entry” → 0.87</a:t>
            </a:r>
          </a:p>
          <a:p>
            <a:pPr algn="l">
              <a:lnSpc>
                <a:spcPts val="3337"/>
              </a:lnSpc>
            </a:pPr>
            <a:endParaRPr lang="en-US" sz="2383">
              <a:solidFill>
                <a:srgbClr val="FFFFFF"/>
              </a:solidFill>
              <a:latin typeface="Codec Pro"/>
              <a:ea typeface="Codec Pro"/>
              <a:cs typeface="Codec Pro"/>
              <a:sym typeface="Codec Pro"/>
            </a:endParaRPr>
          </a:p>
          <a:p>
            <a:pPr algn="l">
              <a:lnSpc>
                <a:spcPts val="3617"/>
              </a:lnSpc>
            </a:pPr>
            <a:r>
              <a:rPr lang="en-US" sz="2583">
                <a:solidFill>
                  <a:srgbClr val="FFFFFF"/>
                </a:solidFill>
                <a:latin typeface="Codec Pro"/>
                <a:ea typeface="Codec Pro"/>
                <a:cs typeface="Codec Pro"/>
                <a:sym typeface="Codec Pro"/>
              </a:rPr>
              <a:t>🎥 Video Inference</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The trained YOLOv8 model was tested on a simulated dashcam-style driving video to evaluate real-world applicability.</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Real-Time Detection:</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The model performed real-time predictions on video frames, detecting and labeling various traffic signs such as:</a:t>
            </a:r>
          </a:p>
          <a:p>
            <a:pPr algn="l">
              <a:lnSpc>
                <a:spcPts val="3337"/>
              </a:lnSpc>
            </a:pPr>
            <a:r>
              <a:rPr lang="en-US" sz="2383">
                <a:solidFill>
                  <a:srgbClr val="FFFFFF"/>
                </a:solidFill>
                <a:latin typeface="Codec Pro"/>
                <a:ea typeface="Codec Pro"/>
                <a:cs typeface="Codec Pro"/>
                <a:sym typeface="Codec Pro"/>
              </a:rPr>
              <a:t>"🚫 No entry"’, "🛑 Stop", "🚦 Traffic signals"</a:t>
            </a:r>
          </a:p>
          <a:p>
            <a:pPr algn="l">
              <a:lnSpc>
                <a:spcPts val="3337"/>
              </a:lnSpc>
            </a:pPr>
            <a:endParaRPr lang="en-US" sz="2383">
              <a:solidFill>
                <a:srgbClr val="FFFFFF"/>
              </a:solidFill>
              <a:latin typeface="Codec Pro"/>
              <a:ea typeface="Codec Pro"/>
              <a:cs typeface="Codec Pro"/>
              <a:sym typeface="Codec Pro"/>
            </a:endParaRPr>
          </a:p>
          <a:p>
            <a:pPr algn="l">
              <a:lnSpc>
                <a:spcPts val="3617"/>
              </a:lnSpc>
            </a:pPr>
            <a:r>
              <a:rPr lang="en-US" sz="2583">
                <a:solidFill>
                  <a:srgbClr val="FFFFFF"/>
                </a:solidFill>
                <a:latin typeface="Codec Pro"/>
                <a:ea typeface="Codec Pro"/>
                <a:cs typeface="Codec Pro"/>
                <a:sym typeface="Codec Pro"/>
              </a:rPr>
              <a:t>⚠️ Limitations Observed</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Some bounding boxes were imprecise or too large.</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Mislabeling occurred occasionally, especially with smaller or blurry signs.</a:t>
            </a:r>
          </a:p>
          <a:p>
            <a:pPr marL="514664" lvl="1" indent="-257332" algn="l">
              <a:lnSpc>
                <a:spcPts val="3337"/>
              </a:lnSpc>
              <a:spcBef>
                <a:spcPct val="0"/>
              </a:spcBef>
              <a:buFont typeface="Arial"/>
              <a:buChar char="•"/>
            </a:pPr>
            <a:r>
              <a:rPr lang="en-US" sz="2383">
                <a:solidFill>
                  <a:srgbClr val="FFFFFF"/>
                </a:solidFill>
                <a:latin typeface="Codec Pro"/>
                <a:ea typeface="Codec Pro"/>
                <a:cs typeface="Codec Pro"/>
                <a:sym typeface="Codec Pro"/>
              </a:rPr>
              <a:t>Model performance degraded slightly in continuous video due to limited training data and resource constraints. </a:t>
            </a:r>
          </a:p>
          <a:p>
            <a:pPr algn="l">
              <a:lnSpc>
                <a:spcPts val="3337"/>
              </a:lnSpc>
              <a:spcBef>
                <a:spcPct val="0"/>
              </a:spcBef>
            </a:pPr>
            <a:endParaRPr lang="en-US" sz="2383">
              <a:solidFill>
                <a:srgbClr val="FFFFFF"/>
              </a:solidFill>
              <a:latin typeface="Codec Pro"/>
              <a:ea typeface="Codec Pro"/>
              <a:cs typeface="Codec Pro"/>
              <a:sym typeface="Codec Pro"/>
            </a:endParaRPr>
          </a:p>
          <a:p>
            <a:pPr algn="ctr">
              <a:lnSpc>
                <a:spcPts val="3617"/>
              </a:lnSpc>
              <a:spcBef>
                <a:spcPct val="0"/>
              </a:spcBef>
            </a:pPr>
            <a:endParaRPr lang="en-US" sz="2383">
              <a:solidFill>
                <a:srgbClr val="FFFFFF"/>
              </a:solidFill>
              <a:latin typeface="Codec Pro"/>
              <a:ea typeface="Codec Pro"/>
              <a:cs typeface="Codec Pro"/>
              <a:sym typeface="Codec Pro"/>
            </a:endParaRPr>
          </a:p>
        </p:txBody>
      </p:sp>
      <p:sp>
        <p:nvSpPr>
          <p:cNvPr id="8" name="TextBox 8"/>
          <p:cNvSpPr txBox="1"/>
          <p:nvPr/>
        </p:nvSpPr>
        <p:spPr>
          <a:xfrm>
            <a:off x="0" y="244709"/>
            <a:ext cx="15175158" cy="775625"/>
          </a:xfrm>
          <a:prstGeom prst="rect">
            <a:avLst/>
          </a:prstGeom>
        </p:spPr>
        <p:txBody>
          <a:bodyPr lIns="0" tIns="0" rIns="0" bIns="0" rtlCol="0" anchor="t">
            <a:spAutoFit/>
          </a:bodyPr>
          <a:lstStyle/>
          <a:p>
            <a:pPr algn="ctr">
              <a:lnSpc>
                <a:spcPts val="5922"/>
              </a:lnSpc>
            </a:pPr>
            <a:r>
              <a:rPr lang="en-US" sz="5587">
                <a:solidFill>
                  <a:srgbClr val="FFFFFF"/>
                </a:solidFill>
                <a:latin typeface="Lilita One"/>
                <a:ea typeface="Lilita One"/>
                <a:cs typeface="Lilita One"/>
                <a:sym typeface="Lilita One"/>
              </a:rPr>
              <a:t>MODEL PREDICTIONS ON IMAGES &amp; VIDEO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Freeform 3"/>
          <p:cNvSpPr/>
          <p:nvPr/>
        </p:nvSpPr>
        <p:spPr>
          <a:xfrm>
            <a:off x="-1023995" y="3939722"/>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4" name="TextBox 4"/>
          <p:cNvSpPr txBox="1"/>
          <p:nvPr/>
        </p:nvSpPr>
        <p:spPr>
          <a:xfrm>
            <a:off x="2050469" y="847180"/>
            <a:ext cx="11846694" cy="1058834"/>
          </a:xfrm>
          <a:prstGeom prst="rect">
            <a:avLst/>
          </a:prstGeom>
        </p:spPr>
        <p:txBody>
          <a:bodyPr lIns="0" tIns="0" rIns="0" bIns="0" rtlCol="0" anchor="t">
            <a:spAutoFit/>
          </a:bodyPr>
          <a:lstStyle/>
          <a:p>
            <a:pPr algn="ctr">
              <a:lnSpc>
                <a:spcPts val="8042"/>
              </a:lnSpc>
            </a:pPr>
            <a:r>
              <a:rPr lang="en-US" sz="7587">
                <a:solidFill>
                  <a:srgbClr val="FFFFFF"/>
                </a:solidFill>
                <a:latin typeface="Anton"/>
                <a:ea typeface="Anton"/>
                <a:cs typeface="Anton"/>
                <a:sym typeface="Anton"/>
              </a:rPr>
              <a:t>CONCLUSION &amp; FUTURE WORK</a:t>
            </a:r>
          </a:p>
        </p:txBody>
      </p:sp>
      <p:sp>
        <p:nvSpPr>
          <p:cNvPr id="5" name="Freeform 5"/>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57000"/>
            </a:blip>
            <a:stretch>
              <a:fillRect/>
            </a:stretch>
          </a:blipFill>
        </p:spPr>
        <p:txBody>
          <a:bodyPr/>
          <a:lstStyle/>
          <a:p>
            <a:endParaRPr lang="en-CA"/>
          </a:p>
        </p:txBody>
      </p:sp>
      <p:sp>
        <p:nvSpPr>
          <p:cNvPr id="6" name="Freeform 6"/>
          <p:cNvSpPr/>
          <p:nvPr/>
        </p:nvSpPr>
        <p:spPr>
          <a:xfrm>
            <a:off x="15054726" y="4173652"/>
            <a:ext cx="3875673" cy="7329878"/>
          </a:xfrm>
          <a:custGeom>
            <a:avLst/>
            <a:gdLst/>
            <a:ahLst/>
            <a:cxnLst/>
            <a:rect l="l" t="t" r="r" b="b"/>
            <a:pathLst>
              <a:path w="3875673" h="7329878">
                <a:moveTo>
                  <a:pt x="0" y="0"/>
                </a:moveTo>
                <a:lnTo>
                  <a:pt x="3875673" y="0"/>
                </a:lnTo>
                <a:lnTo>
                  <a:pt x="3875673"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7" name="Freeform 7"/>
          <p:cNvSpPr/>
          <p:nvPr/>
        </p:nvSpPr>
        <p:spPr>
          <a:xfrm>
            <a:off x="12629204" y="-277880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40000"/>
            </a:blip>
            <a:stretch>
              <a:fillRect/>
            </a:stretch>
          </a:blipFill>
        </p:spPr>
        <p:txBody>
          <a:bodyPr/>
          <a:lstStyle/>
          <a:p>
            <a:endParaRPr lang="en-CA"/>
          </a:p>
        </p:txBody>
      </p:sp>
      <p:sp>
        <p:nvSpPr>
          <p:cNvPr id="8" name="TextBox 8"/>
          <p:cNvSpPr txBox="1"/>
          <p:nvPr/>
        </p:nvSpPr>
        <p:spPr>
          <a:xfrm>
            <a:off x="1279990" y="2316069"/>
            <a:ext cx="13577402" cy="6523131"/>
          </a:xfrm>
          <a:prstGeom prst="rect">
            <a:avLst/>
          </a:prstGeom>
        </p:spPr>
        <p:txBody>
          <a:bodyPr lIns="0" tIns="0" rIns="0" bIns="0" rtlCol="0" anchor="t">
            <a:spAutoFit/>
          </a:bodyPr>
          <a:lstStyle/>
          <a:p>
            <a:pPr algn="l">
              <a:lnSpc>
                <a:spcPts val="3897"/>
              </a:lnSpc>
            </a:pPr>
            <a:r>
              <a:rPr lang="en-US" sz="2783">
                <a:solidFill>
                  <a:srgbClr val="FFFFFF"/>
                </a:solidFill>
                <a:latin typeface="Codec Pro"/>
                <a:ea typeface="Codec Pro"/>
                <a:cs typeface="Codec Pro"/>
                <a:sym typeface="Codec Pro"/>
              </a:rPr>
              <a:t>🧩 Conclusion</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This project explored traffic sign recognition using two approaches: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Phase 1/2: CNN architecture for high-accuracy image classification.</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 Final Phase : Applied YOLOv8 for real-time object detection on a balanced 25-class dataset.</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Both models achieved strong results on static images.</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YOLOv8 showed potential for real-world detection but struggled with video inference due to data and resource limitations.</a:t>
            </a:r>
          </a:p>
          <a:p>
            <a:pPr algn="l">
              <a:lnSpc>
                <a:spcPts val="3617"/>
              </a:lnSpc>
            </a:pPr>
            <a:endParaRPr lang="en-US" sz="2383">
              <a:solidFill>
                <a:srgbClr val="FFFFFF"/>
              </a:solidFill>
              <a:latin typeface="Codec Pro"/>
              <a:ea typeface="Codec Pro"/>
              <a:cs typeface="Codec Pro"/>
              <a:sym typeface="Codec Pro"/>
            </a:endParaRPr>
          </a:p>
          <a:p>
            <a:pPr algn="l">
              <a:lnSpc>
                <a:spcPts val="3897"/>
              </a:lnSpc>
            </a:pPr>
            <a:r>
              <a:rPr lang="en-US" sz="2783">
                <a:solidFill>
                  <a:srgbClr val="FFFFFF"/>
                </a:solidFill>
                <a:latin typeface="Codec Pro"/>
                <a:ea typeface="Codec Pro"/>
                <a:cs typeface="Codec Pro"/>
                <a:sym typeface="Codec Pro"/>
              </a:rPr>
              <a:t>🚀 Future Work</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Expand dataset with diverse traffic scenes for better generalization.</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Apply advanced augmentation (e.g., MixUp, CutMix) and Transformer tuning.</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Improve real-time performance via model optimization and temporal smoothing for video.</a:t>
            </a:r>
          </a:p>
          <a:p>
            <a:pPr marL="514664" lvl="1" indent="-257332" algn="l">
              <a:lnSpc>
                <a:spcPts val="3337"/>
              </a:lnSpc>
              <a:buFont typeface="Arial"/>
              <a:buChar char="•"/>
            </a:pPr>
            <a:r>
              <a:rPr lang="en-US" sz="2383">
                <a:solidFill>
                  <a:srgbClr val="FFFFFF"/>
                </a:solidFill>
                <a:latin typeface="Codec Pro"/>
                <a:ea typeface="Codec Pro"/>
                <a:cs typeface="Codec Pro"/>
                <a:sym typeface="Codec Pro"/>
              </a:rPr>
              <a:t>Explore deployment on mobile and edge devices using quantized models.</a:t>
            </a:r>
          </a:p>
          <a:p>
            <a:pPr algn="ctr">
              <a:lnSpc>
                <a:spcPts val="3617"/>
              </a:lnSpc>
              <a:spcBef>
                <a:spcPct val="0"/>
              </a:spcBef>
            </a:pPr>
            <a:endParaRPr lang="en-US" sz="2383">
              <a:solidFill>
                <a:srgbClr val="FFFFFF"/>
              </a:solidFill>
              <a:latin typeface="Codec Pro"/>
              <a:ea typeface="Codec Pro"/>
              <a:cs typeface="Codec Pro"/>
              <a:sym typeface="Codec Pro"/>
            </a:endParaRPr>
          </a:p>
        </p:txBody>
      </p:sp>
      <p:sp>
        <p:nvSpPr>
          <p:cNvPr id="9" name="Freeform 9"/>
          <p:cNvSpPr/>
          <p:nvPr/>
        </p:nvSpPr>
        <p:spPr>
          <a:xfrm>
            <a:off x="14540106" y="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5">
              <a:alphaModFix amt="25000"/>
              <a:extLst>
                <a:ext uri="{96DAC541-7B7A-43D3-8B79-37D633B846F1}">
                  <asvg:svgBlip xmlns:asvg="http://schemas.microsoft.com/office/drawing/2016/SVG/main" r:embed="rId6"/>
                </a:ext>
              </a:extLst>
            </a:blip>
            <a:stretch>
              <a:fillRect/>
            </a:stretch>
          </a:blipFill>
        </p:spPr>
        <p:txBody>
          <a:bodyPr/>
          <a:lstStyle/>
          <a:p>
            <a:endParaRPr lang="en-CA"/>
          </a:p>
        </p:txBody>
      </p:sp>
      <p:sp>
        <p:nvSpPr>
          <p:cNvPr id="10" name="Freeform 10"/>
          <p:cNvSpPr/>
          <p:nvPr/>
        </p:nvSpPr>
        <p:spPr>
          <a:xfrm>
            <a:off x="4360830" y="631036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5">
              <a:alphaModFix amt="25000"/>
              <a:extLst>
                <a:ext uri="{96DAC541-7B7A-43D3-8B79-37D633B846F1}">
                  <asvg:svgBlip xmlns:asvg="http://schemas.microsoft.com/office/drawing/2016/SVG/main" r:embed="rId6"/>
                </a:ext>
              </a:extLst>
            </a:blip>
            <a:stretch>
              <a:fillRect/>
            </a:stretch>
          </a:blipFill>
        </p:spPr>
        <p:txBody>
          <a:bodyPr/>
          <a:lstStyle/>
          <a:p>
            <a:endParaRPr lang="en-C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CA"/>
          </a:p>
        </p:txBody>
      </p:sp>
      <p:sp>
        <p:nvSpPr>
          <p:cNvPr id="3" name="Freeform 3"/>
          <p:cNvSpPr/>
          <p:nvPr/>
        </p:nvSpPr>
        <p:spPr>
          <a:xfrm>
            <a:off x="-1023995" y="3939722"/>
            <a:ext cx="3875673" cy="7329878"/>
          </a:xfrm>
          <a:custGeom>
            <a:avLst/>
            <a:gdLst/>
            <a:ahLst/>
            <a:cxnLst/>
            <a:rect l="l" t="t" r="r" b="b"/>
            <a:pathLst>
              <a:path w="3875673" h="7329878">
                <a:moveTo>
                  <a:pt x="0" y="0"/>
                </a:moveTo>
                <a:lnTo>
                  <a:pt x="3875674" y="0"/>
                </a:lnTo>
                <a:lnTo>
                  <a:pt x="3875674"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4" name="TextBox 4"/>
          <p:cNvSpPr txBox="1"/>
          <p:nvPr/>
        </p:nvSpPr>
        <p:spPr>
          <a:xfrm>
            <a:off x="2050469" y="847180"/>
            <a:ext cx="11846694" cy="1058834"/>
          </a:xfrm>
          <a:prstGeom prst="rect">
            <a:avLst/>
          </a:prstGeom>
        </p:spPr>
        <p:txBody>
          <a:bodyPr lIns="0" tIns="0" rIns="0" bIns="0" rtlCol="0" anchor="t">
            <a:spAutoFit/>
          </a:bodyPr>
          <a:lstStyle/>
          <a:p>
            <a:pPr algn="ctr">
              <a:lnSpc>
                <a:spcPts val="8042"/>
              </a:lnSpc>
            </a:pPr>
            <a:r>
              <a:rPr lang="en-US" sz="7587">
                <a:solidFill>
                  <a:srgbClr val="FFFFFF"/>
                </a:solidFill>
                <a:latin typeface="Anton"/>
                <a:ea typeface="Anton"/>
                <a:cs typeface="Anton"/>
                <a:sym typeface="Anton"/>
              </a:rPr>
              <a:t>REFERENCES</a:t>
            </a:r>
          </a:p>
        </p:txBody>
      </p:sp>
      <p:sp>
        <p:nvSpPr>
          <p:cNvPr id="5" name="Freeform 5"/>
          <p:cNvSpPr/>
          <p:nvPr/>
        </p:nvSpPr>
        <p:spPr>
          <a:xfrm>
            <a:off x="-3940086" y="6818715"/>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57000"/>
            </a:blip>
            <a:stretch>
              <a:fillRect/>
            </a:stretch>
          </a:blipFill>
        </p:spPr>
        <p:txBody>
          <a:bodyPr/>
          <a:lstStyle/>
          <a:p>
            <a:endParaRPr lang="en-CA"/>
          </a:p>
        </p:txBody>
      </p:sp>
      <p:sp>
        <p:nvSpPr>
          <p:cNvPr id="6" name="Freeform 6"/>
          <p:cNvSpPr/>
          <p:nvPr/>
        </p:nvSpPr>
        <p:spPr>
          <a:xfrm>
            <a:off x="15054726" y="4173652"/>
            <a:ext cx="3875673" cy="7329878"/>
          </a:xfrm>
          <a:custGeom>
            <a:avLst/>
            <a:gdLst/>
            <a:ahLst/>
            <a:cxnLst/>
            <a:rect l="l" t="t" r="r" b="b"/>
            <a:pathLst>
              <a:path w="3875673" h="7329878">
                <a:moveTo>
                  <a:pt x="0" y="0"/>
                </a:moveTo>
                <a:lnTo>
                  <a:pt x="3875673" y="0"/>
                </a:lnTo>
                <a:lnTo>
                  <a:pt x="3875673" y="7329878"/>
                </a:lnTo>
                <a:lnTo>
                  <a:pt x="0" y="7329878"/>
                </a:lnTo>
                <a:lnTo>
                  <a:pt x="0" y="0"/>
                </a:lnTo>
                <a:close/>
              </a:path>
            </a:pathLst>
          </a:custGeom>
          <a:blipFill>
            <a:blip r:embed="rId3">
              <a:alphaModFix amt="18000"/>
            </a:blip>
            <a:stretch>
              <a:fillRect/>
            </a:stretch>
          </a:blipFill>
        </p:spPr>
        <p:txBody>
          <a:bodyPr/>
          <a:lstStyle/>
          <a:p>
            <a:endParaRPr lang="en-CA"/>
          </a:p>
        </p:txBody>
      </p:sp>
      <p:sp>
        <p:nvSpPr>
          <p:cNvPr id="7" name="Freeform 7"/>
          <p:cNvSpPr/>
          <p:nvPr/>
        </p:nvSpPr>
        <p:spPr>
          <a:xfrm>
            <a:off x="12629204" y="-2778802"/>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4">
              <a:alphaModFix amt="40000"/>
            </a:blip>
            <a:stretch>
              <a:fillRect/>
            </a:stretch>
          </a:blipFill>
        </p:spPr>
        <p:txBody>
          <a:bodyPr/>
          <a:lstStyle/>
          <a:p>
            <a:endParaRPr lang="en-CA"/>
          </a:p>
        </p:txBody>
      </p:sp>
      <p:sp>
        <p:nvSpPr>
          <p:cNvPr id="8" name="TextBox 8"/>
          <p:cNvSpPr txBox="1"/>
          <p:nvPr/>
        </p:nvSpPr>
        <p:spPr>
          <a:xfrm>
            <a:off x="1279990" y="2316069"/>
            <a:ext cx="15979310" cy="6430421"/>
          </a:xfrm>
          <a:prstGeom prst="rect">
            <a:avLst/>
          </a:prstGeom>
        </p:spPr>
        <p:txBody>
          <a:bodyPr lIns="0" tIns="0" rIns="0" bIns="0" rtlCol="0" anchor="t">
            <a:spAutoFit/>
          </a:bodyPr>
          <a:lstStyle/>
          <a:p>
            <a:pPr marL="557843" lvl="1" indent="-278921" algn="l">
              <a:lnSpc>
                <a:spcPts val="3617"/>
              </a:lnSpc>
              <a:buAutoNum type="arabicPeriod"/>
            </a:pPr>
            <a:r>
              <a:rPr lang="en-US" sz="2583">
                <a:solidFill>
                  <a:srgbClr val="FFFFFF"/>
                </a:solidFill>
                <a:latin typeface="Codec Pro"/>
                <a:ea typeface="Codec Pro"/>
                <a:cs typeface="Codec Pro"/>
                <a:sym typeface="Codec Pro"/>
              </a:rPr>
              <a:t>Kaggle. (2011). German Traffic Sign Recognition Benchmark (GTSRB) dataset. Kaggle. </a:t>
            </a:r>
            <a:r>
              <a:rPr lang="en-US" sz="2583" u="sng">
                <a:solidFill>
                  <a:srgbClr val="FFFFFF"/>
                </a:solidFill>
                <a:latin typeface="Codec Pro"/>
                <a:ea typeface="Codec Pro"/>
                <a:cs typeface="Codec Pro"/>
                <a:sym typeface="Codec Pro"/>
                <a:hlinkClick r:id="rId5" tooltip="https://www.kaggle.com/datasets/meowmeowmeowmeowmeow/gtsrb-german-traffic-sign"/>
              </a:rPr>
              <a:t>https://www.kaggle.com/datasets/meowmeowmeowmeowmeow/gtsrb-german-traffic-sign</a:t>
            </a:r>
          </a:p>
          <a:p>
            <a:pPr marL="557843" lvl="1" indent="-278921" algn="l">
              <a:lnSpc>
                <a:spcPts val="3617"/>
              </a:lnSpc>
              <a:buAutoNum type="arabicPeriod"/>
            </a:pPr>
            <a:r>
              <a:rPr lang="en-US" sz="2583">
                <a:solidFill>
                  <a:srgbClr val="FFFFFF"/>
                </a:solidFill>
                <a:latin typeface="Codec Pro"/>
                <a:ea typeface="Codec Pro"/>
                <a:cs typeface="Codec Pro"/>
                <a:sym typeface="Codec Pro"/>
              </a:rPr>
              <a:t>TensorFlow. (2023). Image classification with CNNs. TensorFlow Documentation. </a:t>
            </a:r>
            <a:r>
              <a:rPr lang="en-US" sz="2583" u="sng">
                <a:solidFill>
                  <a:srgbClr val="FFFFFF"/>
                </a:solidFill>
                <a:latin typeface="Codec Pro"/>
                <a:ea typeface="Codec Pro"/>
                <a:cs typeface="Codec Pro"/>
                <a:sym typeface="Codec Pro"/>
                <a:hlinkClick r:id="rId6" tooltip="https://www.tensorflow.org/tutorials/images/cnn"/>
              </a:rPr>
              <a:t>https://www.tensorflow.org/tutorials/images/cnn</a:t>
            </a:r>
          </a:p>
          <a:p>
            <a:pPr marL="557843" lvl="1" indent="-278921" algn="l">
              <a:lnSpc>
                <a:spcPts val="3617"/>
              </a:lnSpc>
              <a:buAutoNum type="arabicPeriod"/>
            </a:pPr>
            <a:r>
              <a:rPr lang="en-US" sz="2583">
                <a:solidFill>
                  <a:srgbClr val="FFFFFF"/>
                </a:solidFill>
                <a:latin typeface="Codec Pro"/>
                <a:ea typeface="Codec Pro"/>
                <a:cs typeface="Codec Pro"/>
                <a:sym typeface="Codec Pro"/>
              </a:rPr>
              <a:t>Ultralytics. (2023). YOLOv5: Custom object detection training. GitHub. </a:t>
            </a:r>
            <a:r>
              <a:rPr lang="en-US" sz="2583" u="sng">
                <a:solidFill>
                  <a:srgbClr val="FFFFFF"/>
                </a:solidFill>
                <a:latin typeface="Codec Pro"/>
                <a:ea typeface="Codec Pro"/>
                <a:cs typeface="Codec Pro"/>
                <a:sym typeface="Codec Pro"/>
                <a:hlinkClick r:id="rId7" tooltip="https://github.com/ultralytics/yolov5"/>
              </a:rPr>
              <a:t>https://github.com/ultralytics/yolov5</a:t>
            </a:r>
          </a:p>
          <a:p>
            <a:pPr marL="557843" lvl="1" indent="-278921" algn="l">
              <a:lnSpc>
                <a:spcPts val="3617"/>
              </a:lnSpc>
              <a:buAutoNum type="arabicPeriod"/>
            </a:pPr>
            <a:r>
              <a:rPr lang="en-US" sz="2583">
                <a:solidFill>
                  <a:srgbClr val="FFFFFF"/>
                </a:solidFill>
                <a:latin typeface="Codec Pro"/>
                <a:ea typeface="Codec Pro"/>
                <a:cs typeface="Codec Pro"/>
                <a:sym typeface="Codec Pro"/>
              </a:rPr>
              <a:t>OpenCV. (2023). Image preprocessing techniques. OpenCV Documentation. </a:t>
            </a:r>
            <a:r>
              <a:rPr lang="en-US" sz="2583" u="sng">
                <a:solidFill>
                  <a:srgbClr val="FFFFFF"/>
                </a:solidFill>
                <a:latin typeface="Codec Pro"/>
                <a:ea typeface="Codec Pro"/>
                <a:cs typeface="Codec Pro"/>
                <a:sym typeface="Codec Pro"/>
                <a:hlinkClick r:id="rId8" tooltip="https://docs.opencv.org/4.x/d9/df8/tutorial_root.html"/>
              </a:rPr>
              <a:t>https://docs.opencv.org/4.x/d9/df8/tutorial_root.html</a:t>
            </a:r>
          </a:p>
          <a:p>
            <a:pPr marL="557843" lvl="1" indent="-278921" algn="l">
              <a:lnSpc>
                <a:spcPts val="3617"/>
              </a:lnSpc>
              <a:buAutoNum type="arabicPeriod"/>
            </a:pPr>
            <a:r>
              <a:rPr lang="en-US" sz="2583">
                <a:solidFill>
                  <a:srgbClr val="FFFFFF"/>
                </a:solidFill>
                <a:latin typeface="Codec Pro"/>
                <a:ea typeface="Codec Pro"/>
                <a:cs typeface="Codec Pro"/>
                <a:sym typeface="Codec Pro"/>
              </a:rPr>
              <a:t>Roboflow. (2023). What is Data Augmentation? The Ultimate Guide. Roboflow Blog. </a:t>
            </a:r>
            <a:r>
              <a:rPr lang="en-US" sz="2583" u="sng">
                <a:solidFill>
                  <a:srgbClr val="FFFFFF"/>
                </a:solidFill>
                <a:latin typeface="Codec Pro"/>
                <a:ea typeface="Codec Pro"/>
                <a:cs typeface="Codec Pro"/>
                <a:sym typeface="Codec Pro"/>
                <a:hlinkClick r:id="rId9" tooltip="https://blog.roboflow.com/data-augmentation/"/>
              </a:rPr>
              <a:t>https://blog.roboflow.com/data-augmentation/</a:t>
            </a:r>
          </a:p>
          <a:p>
            <a:pPr marL="557843" lvl="1" indent="-278921" algn="l">
              <a:lnSpc>
                <a:spcPts val="3617"/>
              </a:lnSpc>
              <a:buAutoNum type="arabicPeriod"/>
            </a:pPr>
            <a:r>
              <a:rPr lang="en-US" sz="2583">
                <a:solidFill>
                  <a:srgbClr val="FFFFFF"/>
                </a:solidFill>
                <a:latin typeface="Codec Pro"/>
                <a:ea typeface="Codec Pro"/>
                <a:cs typeface="Codec Pro"/>
                <a:sym typeface="Codec Pro"/>
              </a:rPr>
              <a:t>S</a:t>
            </a:r>
            <a:r>
              <a:rPr lang="en-US" sz="2583" u="none">
                <a:solidFill>
                  <a:srgbClr val="FFFFFF"/>
                </a:solidFill>
                <a:latin typeface="Codec Pro"/>
                <a:ea typeface="Codec Pro"/>
                <a:cs typeface="Codec Pro"/>
                <a:sym typeface="Codec Pro"/>
              </a:rPr>
              <a:t>c</a:t>
            </a:r>
            <a:r>
              <a:rPr lang="en-US" sz="2583">
                <a:solidFill>
                  <a:srgbClr val="FFFFFF"/>
                </a:solidFill>
                <a:latin typeface="Codec Pro"/>
                <a:ea typeface="Codec Pro"/>
                <a:cs typeface="Codec Pro"/>
                <a:sym typeface="Codec Pro"/>
              </a:rPr>
              <a:t>ikit-l</a:t>
            </a:r>
            <a:r>
              <a:rPr lang="en-US" sz="2583" u="none">
                <a:solidFill>
                  <a:srgbClr val="FFFFFF"/>
                </a:solidFill>
                <a:latin typeface="Codec Pro"/>
                <a:ea typeface="Codec Pro"/>
                <a:cs typeface="Codec Pro"/>
                <a:sym typeface="Codec Pro"/>
              </a:rPr>
              <a:t>e</a:t>
            </a:r>
            <a:r>
              <a:rPr lang="en-US" sz="2583">
                <a:solidFill>
                  <a:srgbClr val="FFFFFF"/>
                </a:solidFill>
                <a:latin typeface="Codec Pro"/>
                <a:ea typeface="Codec Pro"/>
                <a:cs typeface="Codec Pro"/>
                <a:sym typeface="Codec Pro"/>
              </a:rPr>
              <a:t>arn</a:t>
            </a:r>
            <a:r>
              <a:rPr lang="en-US" sz="2583" u="none">
                <a:solidFill>
                  <a:srgbClr val="FFFFFF"/>
                </a:solidFill>
                <a:latin typeface="Codec Pro"/>
                <a:ea typeface="Codec Pro"/>
                <a:cs typeface="Codec Pro"/>
                <a:sym typeface="Codec Pro"/>
              </a:rPr>
              <a:t>.</a:t>
            </a:r>
            <a:r>
              <a:rPr lang="en-US" sz="2583">
                <a:solidFill>
                  <a:srgbClr val="FFFFFF"/>
                </a:solidFill>
                <a:latin typeface="Codec Pro"/>
                <a:ea typeface="Codec Pro"/>
                <a:cs typeface="Codec Pro"/>
                <a:sym typeface="Codec Pro"/>
              </a:rPr>
              <a:t> (2023). C</a:t>
            </a:r>
            <a:r>
              <a:rPr lang="en-US" sz="2583" u="none">
                <a:solidFill>
                  <a:srgbClr val="FFFFFF"/>
                </a:solidFill>
                <a:latin typeface="Codec Pro"/>
                <a:ea typeface="Codec Pro"/>
                <a:cs typeface="Codec Pro"/>
                <a:sym typeface="Codec Pro"/>
              </a:rPr>
              <a:t>o</a:t>
            </a:r>
            <a:r>
              <a:rPr lang="en-US" sz="2583">
                <a:solidFill>
                  <a:srgbClr val="FFFFFF"/>
                </a:solidFill>
                <a:latin typeface="Codec Pro"/>
                <a:ea typeface="Codec Pro"/>
                <a:cs typeface="Codec Pro"/>
                <a:sym typeface="Codec Pro"/>
              </a:rPr>
              <a:t>nfusion matrix visualization. scikit-learn Documentation. </a:t>
            </a:r>
            <a:r>
              <a:rPr lang="en-US" sz="2583" u="sng">
                <a:solidFill>
                  <a:srgbClr val="FFFFFF"/>
                </a:solidFill>
                <a:latin typeface="Codec Pro"/>
                <a:ea typeface="Codec Pro"/>
                <a:cs typeface="Codec Pro"/>
                <a:sym typeface="Codec Pro"/>
                <a:hlinkClick r:id="rId10" tooltip="https://scikit-learn.org/stable/modules/generated/sklearn.metrics.confusion_matrix.html"/>
              </a:rPr>
              <a:t>https://scikit-learn.org/stable/modules/generated/sklearn.metrics.confusion_matrix.html</a:t>
            </a:r>
          </a:p>
          <a:p>
            <a:pPr marL="557843" lvl="1" indent="-278921" algn="l">
              <a:lnSpc>
                <a:spcPts val="3617"/>
              </a:lnSpc>
              <a:buAutoNum type="arabicPeriod"/>
            </a:pPr>
            <a:r>
              <a:rPr lang="en-US" sz="2583">
                <a:solidFill>
                  <a:srgbClr val="FFFFFF"/>
                </a:solidFill>
                <a:latin typeface="Codec Pro"/>
                <a:ea typeface="Codec Pro"/>
                <a:cs typeface="Codec Pro"/>
                <a:sym typeface="Codec Pro"/>
              </a:rPr>
              <a:t>Papers With C</a:t>
            </a:r>
            <a:r>
              <a:rPr lang="en-US" sz="2583" u="none">
                <a:solidFill>
                  <a:srgbClr val="FFFFFF"/>
                </a:solidFill>
                <a:latin typeface="Codec Pro"/>
                <a:ea typeface="Codec Pro"/>
                <a:cs typeface="Codec Pro"/>
                <a:sym typeface="Codec Pro"/>
              </a:rPr>
              <a:t>o</a:t>
            </a:r>
            <a:r>
              <a:rPr lang="en-US" sz="2583">
                <a:solidFill>
                  <a:srgbClr val="FFFFFF"/>
                </a:solidFill>
                <a:latin typeface="Codec Pro"/>
                <a:ea typeface="Codec Pro"/>
                <a:cs typeface="Codec Pro"/>
                <a:sym typeface="Codec Pro"/>
              </a:rPr>
              <a:t>de. (2023). State-of-the-art traffic sign detection models. </a:t>
            </a:r>
            <a:r>
              <a:rPr lang="en-US" sz="2583" u="sng">
                <a:solidFill>
                  <a:srgbClr val="FFFFFF"/>
                </a:solidFill>
                <a:latin typeface="Codec Pro"/>
                <a:ea typeface="Codec Pro"/>
                <a:cs typeface="Codec Pro"/>
                <a:sym typeface="Codec Pro"/>
                <a:hlinkClick r:id="rId11" tooltip="https://paperswithcode.com/task/traffic-sign-recognition"/>
              </a:rPr>
              <a:t>https://paperswithcode.com/task/traffic-sign-recognition</a:t>
            </a:r>
          </a:p>
        </p:txBody>
      </p:sp>
      <p:sp>
        <p:nvSpPr>
          <p:cNvPr id="9" name="Freeform 9"/>
          <p:cNvSpPr/>
          <p:nvPr/>
        </p:nvSpPr>
        <p:spPr>
          <a:xfrm>
            <a:off x="14540106" y="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12">
              <a:alphaModFix amt="25000"/>
              <a:extLst>
                <a:ext uri="{96DAC541-7B7A-43D3-8B79-37D633B846F1}">
                  <asvg:svgBlip xmlns:asvg="http://schemas.microsoft.com/office/drawing/2016/SVG/main" r:embed="rId13"/>
                </a:ext>
              </a:extLst>
            </a:blip>
            <a:stretch>
              <a:fillRect/>
            </a:stretch>
          </a:blipFill>
        </p:spPr>
        <p:txBody>
          <a:bodyPr/>
          <a:lstStyle/>
          <a:p>
            <a:endParaRPr lang="en-CA"/>
          </a:p>
        </p:txBody>
      </p:sp>
      <p:sp>
        <p:nvSpPr>
          <p:cNvPr id="10" name="Freeform 10"/>
          <p:cNvSpPr/>
          <p:nvPr/>
        </p:nvSpPr>
        <p:spPr>
          <a:xfrm>
            <a:off x="4360830" y="6310360"/>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12">
              <a:alphaModFix amt="25000"/>
              <a:extLst>
                <a:ext uri="{96DAC541-7B7A-43D3-8B79-37D633B846F1}">
                  <asvg:svgBlip xmlns:asvg="http://schemas.microsoft.com/office/drawing/2016/SVG/main" r:embed="rId13"/>
                </a:ext>
              </a:extLst>
            </a:blip>
            <a:stretch>
              <a:fillRect/>
            </a:stretch>
          </a:blipFill>
        </p:spPr>
        <p:txBody>
          <a:bodyPr/>
          <a:lstStyle/>
          <a:p>
            <a:endParaRPr lang="en-C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txBody>
          <a:bodyPr/>
          <a:lstStyle/>
          <a:p>
            <a:endParaRPr lang="en-CA"/>
          </a:p>
        </p:txBody>
      </p:sp>
      <p:sp>
        <p:nvSpPr>
          <p:cNvPr id="3" name="Freeform 3"/>
          <p:cNvSpPr/>
          <p:nvPr/>
        </p:nvSpPr>
        <p:spPr>
          <a:xfrm>
            <a:off x="1028700" y="1020334"/>
            <a:ext cx="639926" cy="768471"/>
          </a:xfrm>
          <a:custGeom>
            <a:avLst/>
            <a:gdLst/>
            <a:ahLst/>
            <a:cxnLst/>
            <a:rect l="l" t="t" r="r" b="b"/>
            <a:pathLst>
              <a:path w="639926" h="768471">
                <a:moveTo>
                  <a:pt x="0" y="0"/>
                </a:moveTo>
                <a:lnTo>
                  <a:pt x="639926" y="0"/>
                </a:lnTo>
                <a:lnTo>
                  <a:pt x="639926" y="768470"/>
                </a:lnTo>
                <a:lnTo>
                  <a:pt x="0" y="768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1771961" y="-3514501"/>
            <a:ext cx="10974678" cy="9369631"/>
          </a:xfrm>
          <a:custGeom>
            <a:avLst/>
            <a:gdLst/>
            <a:ahLst/>
            <a:cxnLst/>
            <a:rect l="l" t="t" r="r" b="b"/>
            <a:pathLst>
              <a:path w="10974678" h="9369631">
                <a:moveTo>
                  <a:pt x="0" y="0"/>
                </a:moveTo>
                <a:lnTo>
                  <a:pt x="10974678" y="0"/>
                </a:lnTo>
                <a:lnTo>
                  <a:pt x="10974678" y="9369631"/>
                </a:lnTo>
                <a:lnTo>
                  <a:pt x="0" y="9369631"/>
                </a:lnTo>
                <a:lnTo>
                  <a:pt x="0" y="0"/>
                </a:lnTo>
                <a:close/>
              </a:path>
            </a:pathLst>
          </a:custGeom>
          <a:blipFill>
            <a:blip r:embed="rId5">
              <a:alphaModFix amt="61000"/>
            </a:blip>
            <a:stretch>
              <a:fillRect/>
            </a:stretch>
          </a:blipFill>
        </p:spPr>
        <p:txBody>
          <a:bodyPr/>
          <a:lstStyle/>
          <a:p>
            <a:endParaRPr lang="en-CA"/>
          </a:p>
        </p:txBody>
      </p:sp>
      <p:sp>
        <p:nvSpPr>
          <p:cNvPr id="5" name="Freeform 5"/>
          <p:cNvSpPr/>
          <p:nvPr/>
        </p:nvSpPr>
        <p:spPr>
          <a:xfrm rot="-10672988">
            <a:off x="11848909" y="-931601"/>
            <a:ext cx="2028348" cy="4203830"/>
          </a:xfrm>
          <a:custGeom>
            <a:avLst/>
            <a:gdLst/>
            <a:ahLst/>
            <a:cxnLst/>
            <a:rect l="l" t="t" r="r" b="b"/>
            <a:pathLst>
              <a:path w="2028348" h="4203830">
                <a:moveTo>
                  <a:pt x="0" y="0"/>
                </a:moveTo>
                <a:lnTo>
                  <a:pt x="2028348" y="0"/>
                </a:lnTo>
                <a:lnTo>
                  <a:pt x="2028348" y="4203830"/>
                </a:lnTo>
                <a:lnTo>
                  <a:pt x="0" y="4203830"/>
                </a:lnTo>
                <a:lnTo>
                  <a:pt x="0" y="0"/>
                </a:lnTo>
                <a:close/>
              </a:path>
            </a:pathLst>
          </a:custGeom>
          <a:blipFill>
            <a:blip r:embed="rId6">
              <a:alphaModFix amt="43000"/>
            </a:blip>
            <a:stretch>
              <a:fillRect/>
            </a:stretch>
          </a:blipFill>
        </p:spPr>
        <p:txBody>
          <a:bodyPr/>
          <a:lstStyle/>
          <a:p>
            <a:endParaRPr lang="en-CA"/>
          </a:p>
        </p:txBody>
      </p:sp>
      <p:sp>
        <p:nvSpPr>
          <p:cNvPr id="6" name="TextBox 6"/>
          <p:cNvSpPr txBox="1"/>
          <p:nvPr/>
        </p:nvSpPr>
        <p:spPr>
          <a:xfrm>
            <a:off x="2779962" y="3709534"/>
            <a:ext cx="11817093" cy="1433966"/>
          </a:xfrm>
          <a:prstGeom prst="rect">
            <a:avLst/>
          </a:prstGeom>
        </p:spPr>
        <p:txBody>
          <a:bodyPr lIns="0" tIns="0" rIns="0" bIns="0" rtlCol="0" anchor="t">
            <a:spAutoFit/>
          </a:bodyPr>
          <a:lstStyle/>
          <a:p>
            <a:pPr algn="ctr">
              <a:lnSpc>
                <a:spcPts val="11011"/>
              </a:lnSpc>
            </a:pPr>
            <a:r>
              <a:rPr lang="en-US" sz="10388">
                <a:solidFill>
                  <a:srgbClr val="FFFFFF"/>
                </a:solidFill>
                <a:latin typeface="Anton"/>
                <a:ea typeface="Anton"/>
                <a:cs typeface="Anton"/>
                <a:sym typeface="Anton"/>
              </a:rPr>
              <a:t>THANK YOU!</a:t>
            </a:r>
          </a:p>
        </p:txBody>
      </p:sp>
      <p:sp>
        <p:nvSpPr>
          <p:cNvPr id="7" name="TextBox 7"/>
          <p:cNvSpPr txBox="1"/>
          <p:nvPr/>
        </p:nvSpPr>
        <p:spPr>
          <a:xfrm>
            <a:off x="15081766" y="9325063"/>
            <a:ext cx="4102007" cy="720090"/>
          </a:xfrm>
          <a:prstGeom prst="rect">
            <a:avLst/>
          </a:prstGeom>
        </p:spPr>
        <p:txBody>
          <a:bodyPr lIns="0" tIns="0" rIns="0" bIns="0" rtlCol="0" anchor="t">
            <a:spAutoFit/>
          </a:bodyPr>
          <a:lstStyle/>
          <a:p>
            <a:pPr algn="l">
              <a:lnSpc>
                <a:spcPts val="4905"/>
              </a:lnSpc>
            </a:pPr>
            <a:r>
              <a:rPr lang="en-US" sz="4500">
                <a:solidFill>
                  <a:srgbClr val="FFFFFF"/>
                </a:solidFill>
                <a:latin typeface="Academy"/>
                <a:ea typeface="Academy"/>
                <a:cs typeface="Academy"/>
                <a:sym typeface="Academy"/>
              </a:rPr>
              <a:t>group-8</a:t>
            </a:r>
          </a:p>
        </p:txBody>
      </p:sp>
      <p:sp>
        <p:nvSpPr>
          <p:cNvPr id="8" name="TextBox 8"/>
          <p:cNvSpPr txBox="1"/>
          <p:nvPr/>
        </p:nvSpPr>
        <p:spPr>
          <a:xfrm>
            <a:off x="15081766" y="9049398"/>
            <a:ext cx="4606034" cy="313766"/>
          </a:xfrm>
          <a:prstGeom prst="rect">
            <a:avLst/>
          </a:prstGeom>
        </p:spPr>
        <p:txBody>
          <a:bodyPr lIns="0" tIns="0" rIns="0" bIns="0" rtlCol="0" anchor="t">
            <a:spAutoFit/>
          </a:bodyPr>
          <a:lstStyle/>
          <a:p>
            <a:pPr algn="l">
              <a:lnSpc>
                <a:spcPts val="2185"/>
              </a:lnSpc>
            </a:pPr>
            <a:r>
              <a:rPr lang="en-US" sz="2005">
                <a:solidFill>
                  <a:srgbClr val="FFFFFF"/>
                </a:solidFill>
                <a:latin typeface="Academy"/>
                <a:ea typeface="Academy"/>
                <a:cs typeface="Academy"/>
                <a:sym typeface="Academy"/>
              </a:rPr>
              <a:t>Present by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1690</Words>
  <Application>Microsoft Office PowerPoint</Application>
  <PresentationFormat>Custom</PresentationFormat>
  <Paragraphs>182</Paragraphs>
  <Slides>22</Slides>
  <Notes>0</Notes>
  <HiddenSlides>1</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Sarpanch</vt:lpstr>
      <vt:lpstr>Arimo Bold</vt:lpstr>
      <vt:lpstr>Codec Pro</vt:lpstr>
      <vt:lpstr>Arial</vt:lpstr>
      <vt:lpstr>Anton</vt:lpstr>
      <vt:lpstr>Codec Pro Bold</vt:lpstr>
      <vt:lpstr>Lilita One</vt:lpstr>
      <vt:lpstr>Calibri</vt:lpstr>
      <vt:lpstr>Academy</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Sign Recognition for Autonomous Vehicles</dc:title>
  <cp:lastModifiedBy>Hpan, Su</cp:lastModifiedBy>
  <cp:revision>2</cp:revision>
  <dcterms:created xsi:type="dcterms:W3CDTF">2006-08-16T00:00:00Z</dcterms:created>
  <dcterms:modified xsi:type="dcterms:W3CDTF">2025-04-17T18:26:18Z</dcterms:modified>
  <dc:identifier>DAGgRB6pl3I</dc:identifier>
</cp:coreProperties>
</file>